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5"/>
  </p:handoutMasterIdLst>
  <p:sldIdLst>
    <p:sldId id="257" r:id="rId3"/>
    <p:sldId id="795" r:id="rId5"/>
    <p:sldId id="796" r:id="rId6"/>
    <p:sldId id="716" r:id="rId7"/>
    <p:sldId id="704" r:id="rId8"/>
    <p:sldId id="778" r:id="rId9"/>
    <p:sldId id="706" r:id="rId10"/>
    <p:sldId id="780" r:id="rId11"/>
    <p:sldId id="779" r:id="rId12"/>
    <p:sldId id="783" r:id="rId13"/>
    <p:sldId id="784" r:id="rId14"/>
    <p:sldId id="785" r:id="rId15"/>
    <p:sldId id="781" r:id="rId16"/>
    <p:sldId id="782" r:id="rId17"/>
    <p:sldId id="786" r:id="rId18"/>
    <p:sldId id="787" r:id="rId19"/>
    <p:sldId id="788" r:id="rId20"/>
    <p:sldId id="790" r:id="rId21"/>
    <p:sldId id="814" r:id="rId22"/>
    <p:sldId id="789" r:id="rId23"/>
    <p:sldId id="434" r:id="rId24"/>
  </p:sldIdLst>
  <p:sldSz cx="12192000" cy="6858000"/>
  <p:notesSz cx="7099300" cy="10234295"/>
  <p:custDataLst>
    <p:tags r:id="rId3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RY" initials="L" lastIdx="1" clrIdx="0"/>
  <p:cmAuthor id="2" name="代理业务部 小程" initials="代理业务部"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CEC"/>
    <a:srgbClr val="717171"/>
    <a:srgbClr val="888888"/>
    <a:srgbClr val="FCE3DB"/>
    <a:srgbClr val="D22C2C"/>
    <a:srgbClr val="E37979"/>
    <a:srgbClr val="B33333"/>
    <a:srgbClr val="F2F2F2"/>
    <a:srgbClr val="890E0D"/>
    <a:srgbClr val="E865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1" autoAdjust="0"/>
    <p:restoredTop sz="96301" autoAdjust="0"/>
  </p:normalViewPr>
  <p:slideViewPr>
    <p:cSldViewPr snapToGrid="0" showGuides="1">
      <p:cViewPr varScale="1">
        <p:scale>
          <a:sx n="89" d="100"/>
          <a:sy n="89" d="100"/>
        </p:scale>
        <p:origin x="68" y="292"/>
      </p:cViewPr>
      <p:guideLst>
        <p:guide orient="horz" pos="1591"/>
        <p:guide pos="378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452"/>
    </p:cViewPr>
  </p:sorterViewPr>
  <p:notesViewPr>
    <p:cSldViewPr snapToGrid="0">
      <p:cViewPr varScale="1">
        <p:scale>
          <a:sx n="65" d="100"/>
          <a:sy n="65" d="100"/>
        </p:scale>
        <p:origin x="2224" y="64"/>
      </p:cViewPr>
      <p:guideLst>
        <p:guide orient="horz" pos="3312"/>
        <p:guide pos="2203"/>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19.xml"/><Relationship Id="rId3" Type="http://schemas.openxmlformats.org/officeDocument/2006/relationships/slide" Target="slides/slide1.xml"/><Relationship Id="rId29" Type="http://schemas.openxmlformats.org/officeDocument/2006/relationships/commentAuthors" Target="commentAuthors.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handoutMaster" Target="handoutMasters/handout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1"/>
            <a:ext cx="3076288" cy="511492"/>
          </a:xfrm>
          <a:prstGeom prst="rect">
            <a:avLst/>
          </a:prstGeom>
        </p:spPr>
        <p:txBody>
          <a:bodyPr vert="horz" lIns="94768" tIns="47384" rIns="94768" bIns="47384" rtlCol="0"/>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p:cNvSpPr>
            <a:spLocks noGrp="1"/>
          </p:cNvSpPr>
          <p:nvPr>
            <p:ph type="dt" sz="quarter" idx="1"/>
          </p:nvPr>
        </p:nvSpPr>
        <p:spPr>
          <a:xfrm>
            <a:off x="4020743" y="1"/>
            <a:ext cx="3077423" cy="511492"/>
          </a:xfrm>
          <a:prstGeom prst="rect">
            <a:avLst/>
          </a:prstGeom>
        </p:spPr>
        <p:txBody>
          <a:bodyPr vert="horz" lIns="94768" tIns="47384" rIns="94768" bIns="47384" rtlCol="0"/>
          <a:lstStyle>
            <a:lvl1pPr algn="r">
              <a:defRPr sz="1200">
                <a:latin typeface="Arial" panose="020B0604020202020204" pitchFamily="34" charset="0"/>
                <a:ea typeface="宋体" panose="02010600030101010101" pitchFamily="2" charset="-122"/>
              </a:defRPr>
            </a:lvl1pPr>
          </a:lstStyle>
          <a:p>
            <a:pPr>
              <a:defRPr/>
            </a:pPr>
            <a:fld id="{F62FA965-377B-46B9-87FF-FD18FC7A2CC9}" type="datetimeFigureOut">
              <a:rPr lang="zh-CN" altLang="en-US"/>
            </a:fld>
            <a:endParaRPr lang="zh-CN" altLang="en-US"/>
          </a:p>
        </p:txBody>
      </p:sp>
      <p:sp>
        <p:nvSpPr>
          <p:cNvPr id="4" name="页脚占位符 3"/>
          <p:cNvSpPr>
            <a:spLocks noGrp="1"/>
          </p:cNvSpPr>
          <p:nvPr>
            <p:ph type="ftr" sz="quarter" idx="2"/>
          </p:nvPr>
        </p:nvSpPr>
        <p:spPr>
          <a:xfrm>
            <a:off x="2" y="9720733"/>
            <a:ext cx="3076288" cy="511492"/>
          </a:xfrm>
          <a:prstGeom prst="rect">
            <a:avLst/>
          </a:prstGeom>
        </p:spPr>
        <p:txBody>
          <a:bodyPr vert="horz" lIns="94768" tIns="47384" rIns="94768" bIns="47384" rtlCol="0" anchor="b"/>
          <a:lstStyle>
            <a:lvl1pPr algn="l">
              <a:defRPr sz="1200">
                <a:latin typeface="Arial" panose="020B0604020202020204" pitchFamily="34" charset="0"/>
                <a:ea typeface="宋体" panose="02010600030101010101" pitchFamily="2" charset="-122"/>
              </a:defRPr>
            </a:lvl1pPr>
          </a:lstStyle>
          <a:p>
            <a:pPr>
              <a:defRPr/>
            </a:pPr>
            <a:endParaRPr lang="zh-CN" altLang="en-US"/>
          </a:p>
        </p:txBody>
      </p:sp>
      <p:sp>
        <p:nvSpPr>
          <p:cNvPr id="5" name="灯片编号占位符 4"/>
          <p:cNvSpPr>
            <a:spLocks noGrp="1"/>
          </p:cNvSpPr>
          <p:nvPr>
            <p:ph type="sldNum" sz="quarter" idx="3"/>
          </p:nvPr>
        </p:nvSpPr>
        <p:spPr>
          <a:xfrm>
            <a:off x="4020743" y="9720733"/>
            <a:ext cx="3077423" cy="511492"/>
          </a:xfrm>
          <a:prstGeom prst="rect">
            <a:avLst/>
          </a:prstGeom>
        </p:spPr>
        <p:txBody>
          <a:bodyPr vert="horz" lIns="94768" tIns="47384" rIns="94768" bIns="47384" rtlCol="0" anchor="b"/>
          <a:lstStyle>
            <a:lvl1pPr algn="r">
              <a:defRPr sz="1200">
                <a:latin typeface="Arial" panose="020B0604020202020204" pitchFamily="34" charset="0"/>
                <a:ea typeface="宋体" panose="02010600030101010101" pitchFamily="2" charset="-122"/>
              </a:defRPr>
            </a:lvl1pPr>
          </a:lstStyle>
          <a:p>
            <a:pPr>
              <a:defRPr/>
            </a:pPr>
            <a:fld id="{6E138B0B-103B-4DFD-869F-C152A5267704}" type="slidenum">
              <a:rPr lang="zh-CN" altLang="en-US"/>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1"/>
            <a:ext cx="3076288" cy="511492"/>
          </a:xfrm>
          <a:prstGeom prst="rect">
            <a:avLst/>
          </a:prstGeom>
        </p:spPr>
        <p:txBody>
          <a:bodyPr vert="horz" lIns="94768" tIns="47384" rIns="94768" bIns="47384"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4020743" y="1"/>
            <a:ext cx="3077423" cy="511492"/>
          </a:xfrm>
          <a:prstGeom prst="rect">
            <a:avLst/>
          </a:prstGeom>
        </p:spPr>
        <p:txBody>
          <a:bodyPr vert="horz" lIns="94768" tIns="47384" rIns="94768" bIns="47384" rtlCol="0"/>
          <a:lstStyle>
            <a:lvl1pPr algn="r" fontAlgn="auto">
              <a:spcBef>
                <a:spcPts val="0"/>
              </a:spcBef>
              <a:spcAft>
                <a:spcPts val="0"/>
              </a:spcAft>
              <a:defRPr sz="1200">
                <a:latin typeface="+mn-lt"/>
                <a:ea typeface="+mn-ea"/>
              </a:defRPr>
            </a:lvl1pPr>
          </a:lstStyle>
          <a:p>
            <a:pPr>
              <a:defRPr/>
            </a:pPr>
            <a:fld id="{2BF6CEE0-ECD6-4E96-9E29-76764558F7E2}" type="datetimeFigureOut">
              <a:rPr lang="zh-CN" altLang="en-US"/>
            </a:fld>
            <a:endParaRPr lang="zh-CN" altLang="en-US"/>
          </a:p>
        </p:txBody>
      </p:sp>
      <p:sp>
        <p:nvSpPr>
          <p:cNvPr id="4" name="幻灯片图像占位符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4768" tIns="47384" rIns="94768" bIns="47384" rtlCol="0" anchor="ctr"/>
          <a:lstStyle/>
          <a:p>
            <a:pPr lvl="0"/>
            <a:endParaRPr lang="zh-CN" altLang="en-US" noProof="0"/>
          </a:p>
        </p:txBody>
      </p:sp>
      <p:sp>
        <p:nvSpPr>
          <p:cNvPr id="5" name="备注占位符 4"/>
          <p:cNvSpPr>
            <a:spLocks noGrp="1"/>
          </p:cNvSpPr>
          <p:nvPr>
            <p:ph type="body" sz="quarter" idx="3"/>
          </p:nvPr>
        </p:nvSpPr>
        <p:spPr>
          <a:xfrm>
            <a:off x="709476" y="4861561"/>
            <a:ext cx="5680349" cy="4605816"/>
          </a:xfrm>
          <a:prstGeom prst="rect">
            <a:avLst/>
          </a:prstGeom>
        </p:spPr>
        <p:txBody>
          <a:bodyPr vert="horz" lIns="94768" tIns="47384" rIns="94768" bIns="47384"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2" y="9720733"/>
            <a:ext cx="3076288" cy="511492"/>
          </a:xfrm>
          <a:prstGeom prst="rect">
            <a:avLst/>
          </a:prstGeom>
        </p:spPr>
        <p:txBody>
          <a:bodyPr vert="horz" lIns="94768" tIns="47384" rIns="94768" bIns="47384"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4020743" y="9720733"/>
            <a:ext cx="3077423" cy="511492"/>
          </a:xfrm>
          <a:prstGeom prst="rect">
            <a:avLst/>
          </a:prstGeom>
        </p:spPr>
        <p:txBody>
          <a:bodyPr vert="horz" lIns="94768" tIns="47384" rIns="94768" bIns="47384" rtlCol="0" anchor="b"/>
          <a:lstStyle>
            <a:lvl1pPr algn="r" fontAlgn="auto">
              <a:spcBef>
                <a:spcPts val="0"/>
              </a:spcBef>
              <a:spcAft>
                <a:spcPts val="0"/>
              </a:spcAft>
              <a:defRPr sz="1200">
                <a:latin typeface="+mn-lt"/>
                <a:ea typeface="+mn-ea"/>
              </a:defRPr>
            </a:lvl1pPr>
          </a:lstStyle>
          <a:p>
            <a:pPr>
              <a:defRPr/>
            </a:pPr>
            <a:fld id="{980EB660-39DC-427B-B1E7-2FF5617C956E}"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幻灯片图像占位符 1"/>
          <p:cNvSpPr>
            <a:spLocks noGrp="1" noRot="1" noChangeAspect="1" noTextEdit="1"/>
          </p:cNvSpPr>
          <p:nvPr>
            <p:ph type="sldImg"/>
          </p:nvPr>
        </p:nvSpPr>
        <p:spPr bwMode="auto">
          <a:xfrm>
            <a:off x="139700" y="768350"/>
            <a:ext cx="6819900" cy="3836988"/>
          </a:xfrm>
          <a:noFill/>
          <a:ln>
            <a:solidFill>
              <a:srgbClr val="000000"/>
            </a:solidFill>
            <a:miter lim="800000"/>
          </a:ln>
        </p:spPr>
      </p:sp>
      <p:sp>
        <p:nvSpPr>
          <p:cNvPr id="1843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a:p>
        </p:txBody>
      </p:sp>
      <p:sp>
        <p:nvSpPr>
          <p:cNvPr id="34820"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4ECE956F-7F5F-4EB6-90F1-4C003CC86B29}"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9700" y="768350"/>
            <a:ext cx="6819900" cy="3836988"/>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980EB660-39DC-427B-B1E7-2FF5617C956E}"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红-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12192000" cy="6446520"/>
          </a:xfrm>
          <a:prstGeom prst="rect">
            <a:avLst/>
          </a:prstGeom>
        </p:spPr>
      </p:pic>
      <p:grpSp>
        <p:nvGrpSpPr>
          <p:cNvPr id="9" name="组合 8"/>
          <p:cNvGrpSpPr/>
          <p:nvPr userDrawn="1"/>
        </p:nvGrpSpPr>
        <p:grpSpPr>
          <a:xfrm>
            <a:off x="-1464161" y="3267942"/>
            <a:ext cx="6005349" cy="4502392"/>
            <a:chOff x="2036763" y="-752475"/>
            <a:chExt cx="4411662" cy="4410075"/>
          </a:xfrm>
          <a:solidFill>
            <a:srgbClr val="FFC000">
              <a:alpha val="15000"/>
            </a:srgbClr>
          </a:solidFill>
        </p:grpSpPr>
        <p:sp>
          <p:nvSpPr>
            <p:cNvPr id="10"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5"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红-内页版式1">
    <p:spTree>
      <p:nvGrpSpPr>
        <p:cNvPr id="1" name=""/>
        <p:cNvGrpSpPr/>
        <p:nvPr/>
      </p:nvGrpSpPr>
      <p:grpSpPr>
        <a:xfrm>
          <a:off x="0" y="0"/>
          <a:ext cx="0" cy="0"/>
          <a:chOff x="0" y="0"/>
          <a:chExt cx="0" cy="0"/>
        </a:xfrm>
      </p:grpSpPr>
      <p:sp>
        <p:nvSpPr>
          <p:cNvPr id="7" name="矩形 6"/>
          <p:cNvSpPr/>
          <p:nvPr userDrawn="1"/>
        </p:nvSpPr>
        <p:spPr>
          <a:xfrm flipV="1">
            <a:off x="1" y="822712"/>
            <a:ext cx="12191347" cy="603528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8" name="直接连接符 7"/>
          <p:cNvCxnSpPr/>
          <p:nvPr userDrawn="1"/>
        </p:nvCxnSpPr>
        <p:spPr>
          <a:xfrm>
            <a:off x="1" y="822712"/>
            <a:ext cx="12191347" cy="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日期占位符 3"/>
          <p:cNvSpPr>
            <a:spLocks noGrp="1"/>
          </p:cNvSpPr>
          <p:nvPr>
            <p:ph type="dt" sz="half" idx="10"/>
          </p:nvPr>
        </p:nvSpPr>
        <p:spPr/>
        <p:txBody>
          <a:bodyPr/>
          <a:lstStyle/>
          <a:p>
            <a:fld id="{B2B9C2E3-AFCA-478E-965B-BCB6B2C94C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156E37-25F9-48DB-B4D8-5875A04DC0B5}" type="slidenum">
              <a:rPr lang="zh-CN" altLang="en-US" smtClean="0"/>
            </a:fld>
            <a:endParaRPr lang="zh-CN" altLang="en-US"/>
          </a:p>
        </p:txBody>
      </p:sp>
      <p:grpSp>
        <p:nvGrpSpPr>
          <p:cNvPr id="17" name="组合 16"/>
          <p:cNvGrpSpPr/>
          <p:nvPr userDrawn="1"/>
        </p:nvGrpSpPr>
        <p:grpSpPr>
          <a:xfrm>
            <a:off x="11052960" y="161886"/>
            <a:ext cx="748897" cy="561471"/>
            <a:chOff x="2036763" y="-752475"/>
            <a:chExt cx="4411662" cy="4410075"/>
          </a:xfrm>
          <a:solidFill>
            <a:srgbClr val="C00000"/>
          </a:solidFill>
        </p:grpSpPr>
        <p:sp>
          <p:nvSpPr>
            <p:cNvPr id="18"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红-空白页">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2B9C2E3-AFCA-478E-965B-BCB6B2C94C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156E37-25F9-48DB-B4D8-5875A04DC0B5}" type="slidenum">
              <a:rPr lang="zh-CN" altLang="en-US" smtClean="0"/>
            </a:fld>
            <a:endParaRPr lang="zh-CN" altLang="en-US"/>
          </a:p>
        </p:txBody>
      </p:sp>
      <p:grpSp>
        <p:nvGrpSpPr>
          <p:cNvPr id="14" name="组合 13"/>
          <p:cNvGrpSpPr/>
          <p:nvPr userDrawn="1"/>
        </p:nvGrpSpPr>
        <p:grpSpPr>
          <a:xfrm>
            <a:off x="11052960" y="161886"/>
            <a:ext cx="748897" cy="561471"/>
            <a:chOff x="2036763" y="-752475"/>
            <a:chExt cx="4411662" cy="4410075"/>
          </a:xfrm>
          <a:solidFill>
            <a:srgbClr val="C00000"/>
          </a:solidFill>
        </p:grpSpPr>
        <p:sp>
          <p:nvSpPr>
            <p:cNvPr id="15"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1_红-标题幻灯片">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2871" y="0"/>
            <a:ext cx="12815475" cy="6858000"/>
          </a:xfrm>
          <a:prstGeom prst="rect">
            <a:avLst/>
          </a:prstGeom>
        </p:spPr>
      </p:pic>
      <p:grpSp>
        <p:nvGrpSpPr>
          <p:cNvPr id="29" name="组合 28"/>
          <p:cNvGrpSpPr/>
          <p:nvPr userDrawn="1"/>
        </p:nvGrpSpPr>
        <p:grpSpPr>
          <a:xfrm>
            <a:off x="-312712" y="2636912"/>
            <a:ext cx="4504012" cy="4502392"/>
            <a:chOff x="2036763" y="-752475"/>
            <a:chExt cx="4411662" cy="4410075"/>
          </a:xfrm>
          <a:solidFill>
            <a:srgbClr val="FFC000">
              <a:alpha val="15000"/>
            </a:srgbClr>
          </a:solidFill>
        </p:grpSpPr>
        <p:sp>
          <p:nvSpPr>
            <p:cNvPr id="23"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8"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1_红-内页版式1">
    <p:spTree>
      <p:nvGrpSpPr>
        <p:cNvPr id="1" name=""/>
        <p:cNvGrpSpPr/>
        <p:nvPr/>
      </p:nvGrpSpPr>
      <p:grpSpPr>
        <a:xfrm>
          <a:off x="0" y="0"/>
          <a:ext cx="0" cy="0"/>
          <a:chOff x="0" y="0"/>
          <a:chExt cx="0" cy="0"/>
        </a:xfrm>
      </p:grpSpPr>
      <p:sp>
        <p:nvSpPr>
          <p:cNvPr id="7" name="矩形 6"/>
          <p:cNvSpPr/>
          <p:nvPr userDrawn="1"/>
        </p:nvSpPr>
        <p:spPr>
          <a:xfrm flipV="1">
            <a:off x="0" y="822712"/>
            <a:ext cx="12191347" cy="603528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userDrawn="1"/>
        </p:nvCxnSpPr>
        <p:spPr>
          <a:xfrm>
            <a:off x="0" y="822712"/>
            <a:ext cx="12191347" cy="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1337721" y="161886"/>
            <a:ext cx="561673" cy="561471"/>
            <a:chOff x="2036763" y="-752475"/>
            <a:chExt cx="4411662" cy="4410075"/>
          </a:xfrm>
          <a:solidFill>
            <a:srgbClr val="C00000"/>
          </a:solidFill>
        </p:grpSpPr>
        <p:sp>
          <p:nvSpPr>
            <p:cNvPr id="10"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5"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4" name="日期占位符 3"/>
          <p:cNvSpPr>
            <a:spLocks noGrp="1"/>
          </p:cNvSpPr>
          <p:nvPr>
            <p:ph type="dt" sz="half" idx="10"/>
          </p:nvPr>
        </p:nvSpPr>
        <p:spPr/>
        <p:txBody>
          <a:bodyPr/>
          <a:lstStyle/>
          <a:p>
            <a:fld id="{B2B9C2E3-AFCA-478E-965B-BCB6B2C94C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156E37-25F9-48DB-B4D8-5875A04DC0B5}"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3_红-内页版式1">
    <p:spTree>
      <p:nvGrpSpPr>
        <p:cNvPr id="1" name=""/>
        <p:cNvGrpSpPr/>
        <p:nvPr/>
      </p:nvGrpSpPr>
      <p:grpSpPr>
        <a:xfrm>
          <a:off x="0" y="0"/>
          <a:ext cx="0" cy="0"/>
          <a:chOff x="0" y="0"/>
          <a:chExt cx="0" cy="0"/>
        </a:xfrm>
      </p:grpSpPr>
      <p:sp>
        <p:nvSpPr>
          <p:cNvPr id="7" name="矩形 6"/>
          <p:cNvSpPr/>
          <p:nvPr userDrawn="1"/>
        </p:nvSpPr>
        <p:spPr>
          <a:xfrm rot="10800000" flipV="1">
            <a:off x="-1" y="822712"/>
            <a:ext cx="12191347" cy="6035288"/>
          </a:xfrm>
          <a:prstGeom prst="rect">
            <a:avLst/>
          </a:prstGeom>
          <a:blipFill>
            <a:blip r:embed="rId2"/>
            <a:stretch>
              <a:fillRect t="-17407" b="-1733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userDrawn="1"/>
        </p:nvCxnSpPr>
        <p:spPr>
          <a:xfrm>
            <a:off x="0" y="822712"/>
            <a:ext cx="12191347" cy="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9" name="组合 8"/>
          <p:cNvGrpSpPr/>
          <p:nvPr userDrawn="1"/>
        </p:nvGrpSpPr>
        <p:grpSpPr>
          <a:xfrm>
            <a:off x="11337721" y="161886"/>
            <a:ext cx="561673" cy="561471"/>
            <a:chOff x="2036763" y="-752475"/>
            <a:chExt cx="4411662" cy="4410075"/>
          </a:xfrm>
          <a:solidFill>
            <a:srgbClr val="C00000"/>
          </a:solidFill>
        </p:grpSpPr>
        <p:sp>
          <p:nvSpPr>
            <p:cNvPr id="10"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5"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6" name="矩形 15"/>
          <p:cNvSpPr/>
          <p:nvPr userDrawn="1"/>
        </p:nvSpPr>
        <p:spPr>
          <a:xfrm flipV="1">
            <a:off x="0" y="822712"/>
            <a:ext cx="12191347" cy="6035288"/>
          </a:xfrm>
          <a:prstGeom prst="rect">
            <a:avLst/>
          </a:prstGeom>
          <a:solidFill>
            <a:srgbClr val="F2F2F2">
              <a:alpha val="9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1_红-内页版式2">
    <p:spTree>
      <p:nvGrpSpPr>
        <p:cNvPr id="1" name=""/>
        <p:cNvGrpSpPr/>
        <p:nvPr/>
      </p:nvGrpSpPr>
      <p:grpSpPr>
        <a:xfrm>
          <a:off x="0" y="0"/>
          <a:ext cx="0" cy="0"/>
          <a:chOff x="0" y="0"/>
          <a:chExt cx="0" cy="0"/>
        </a:xfrm>
      </p:grpSpPr>
      <p:sp>
        <p:nvSpPr>
          <p:cNvPr id="6" name="矩形 5"/>
          <p:cNvSpPr/>
          <p:nvPr userDrawn="1"/>
        </p:nvSpPr>
        <p:spPr>
          <a:xfrm>
            <a:off x="0" y="2"/>
            <a:ext cx="12192000" cy="809625"/>
          </a:xfrm>
          <a:prstGeom prst="rect">
            <a:avLst/>
          </a:prstGeom>
          <a:gradFill flip="none" rotWithShape="1">
            <a:gsLst>
              <a:gs pos="0">
                <a:srgbClr val="C00000">
                  <a:lumMod val="48000"/>
                </a:srgbClr>
              </a:gs>
              <a:gs pos="100000">
                <a:srgbClr val="BD2B03"/>
              </a:gs>
              <a:gs pos="51000">
                <a:srgbClr val="C00000"/>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userDrawn="1"/>
        </p:nvCxnSpPr>
        <p:spPr>
          <a:xfrm>
            <a:off x="0" y="762203"/>
            <a:ext cx="10439400" cy="0"/>
          </a:xfrm>
          <a:prstGeom prst="line">
            <a:avLst/>
          </a:prstGeom>
          <a:ln>
            <a:gradFill flip="none" rotWithShape="1">
              <a:gsLst>
                <a:gs pos="76000">
                  <a:schemeClr val="accent1">
                    <a:lumMod val="5000"/>
                    <a:lumOff val="95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 name="日期占位符 2"/>
          <p:cNvSpPr>
            <a:spLocks noGrp="1"/>
          </p:cNvSpPr>
          <p:nvPr>
            <p:ph type="dt" sz="half" idx="10"/>
          </p:nvPr>
        </p:nvSpPr>
        <p:spPr/>
        <p:txBody>
          <a:bodyPr/>
          <a:lstStyle/>
          <a:p>
            <a:fld id="{B2B9C2E3-AFCA-478E-965B-BCB6B2C94CE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3156E37-25F9-48DB-B4D8-5875A04DC0B5}" type="slidenum">
              <a:rPr lang="zh-CN" altLang="en-US" smtClean="0"/>
            </a:fld>
            <a:endParaRPr lang="zh-CN" altLang="en-US"/>
          </a:p>
        </p:txBody>
      </p:sp>
      <p:grpSp>
        <p:nvGrpSpPr>
          <p:cNvPr id="25" name="组合 24"/>
          <p:cNvGrpSpPr/>
          <p:nvPr userDrawn="1"/>
        </p:nvGrpSpPr>
        <p:grpSpPr>
          <a:xfrm>
            <a:off x="11337721" y="161886"/>
            <a:ext cx="561673" cy="561471"/>
            <a:chOff x="2036763" y="-752475"/>
            <a:chExt cx="4411662" cy="4410075"/>
          </a:xfrm>
          <a:solidFill>
            <a:schemeClr val="bg1"/>
          </a:solidFill>
        </p:grpSpPr>
        <p:sp>
          <p:nvSpPr>
            <p:cNvPr id="26"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1"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showMasterSp="0" userDrawn="1">
  <p:cSld name="1_红-空白页">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2B9C2E3-AFCA-478E-965B-BCB6B2C94C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156E37-25F9-48DB-B4D8-5875A04DC0B5}" type="slidenum">
              <a:rPr lang="zh-CN" altLang="en-US" smtClean="0"/>
            </a:fld>
            <a:endParaRPr lang="zh-CN" altLang="en-US"/>
          </a:p>
        </p:txBody>
      </p:sp>
      <p:grpSp>
        <p:nvGrpSpPr>
          <p:cNvPr id="7" name="组合 6"/>
          <p:cNvGrpSpPr/>
          <p:nvPr userDrawn="1"/>
        </p:nvGrpSpPr>
        <p:grpSpPr>
          <a:xfrm>
            <a:off x="11337721" y="161886"/>
            <a:ext cx="561673" cy="561471"/>
            <a:chOff x="2036763" y="-752475"/>
            <a:chExt cx="4411662" cy="4410075"/>
          </a:xfrm>
          <a:solidFill>
            <a:srgbClr val="C00000"/>
          </a:solidFill>
        </p:grpSpPr>
        <p:sp>
          <p:nvSpPr>
            <p:cNvPr id="8"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13"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2_红-空白页">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B2B9C2E3-AFCA-478E-965B-BCB6B2C94C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156E37-25F9-48DB-B4D8-5875A04DC0B5}" type="slidenum">
              <a:rPr lang="zh-CN" altLang="en-US" smtClean="0"/>
            </a:fld>
            <a:endParaRPr lang="zh-CN" altLang="en-US"/>
          </a:p>
        </p:txBody>
      </p:sp>
      <p:grpSp>
        <p:nvGrpSpPr>
          <p:cNvPr id="14" name="组合 13"/>
          <p:cNvGrpSpPr/>
          <p:nvPr userDrawn="1"/>
        </p:nvGrpSpPr>
        <p:grpSpPr>
          <a:xfrm>
            <a:off x="11052960" y="161886"/>
            <a:ext cx="748897" cy="561471"/>
            <a:chOff x="2036763" y="-752475"/>
            <a:chExt cx="4411662" cy="4410075"/>
          </a:xfrm>
          <a:solidFill>
            <a:srgbClr val="C00000"/>
          </a:solidFill>
        </p:grpSpPr>
        <p:sp>
          <p:nvSpPr>
            <p:cNvPr id="15"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0"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2_红-内页版式1">
    <p:spTree>
      <p:nvGrpSpPr>
        <p:cNvPr id="1" name=""/>
        <p:cNvGrpSpPr/>
        <p:nvPr/>
      </p:nvGrpSpPr>
      <p:grpSpPr>
        <a:xfrm>
          <a:off x="0" y="0"/>
          <a:ext cx="0" cy="0"/>
          <a:chOff x="0" y="0"/>
          <a:chExt cx="0" cy="0"/>
        </a:xfrm>
      </p:grpSpPr>
      <p:sp>
        <p:nvSpPr>
          <p:cNvPr id="7" name="矩形 6"/>
          <p:cNvSpPr/>
          <p:nvPr userDrawn="1"/>
        </p:nvSpPr>
        <p:spPr>
          <a:xfrm flipV="1">
            <a:off x="1" y="822712"/>
            <a:ext cx="12191347" cy="6035288"/>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8" name="直接连接符 7"/>
          <p:cNvCxnSpPr/>
          <p:nvPr userDrawn="1"/>
        </p:nvCxnSpPr>
        <p:spPr>
          <a:xfrm>
            <a:off x="1" y="822712"/>
            <a:ext cx="12191347" cy="0"/>
          </a:xfrm>
          <a:prstGeom prst="line">
            <a:avLst/>
          </a:prstGeom>
          <a:ln w="9525">
            <a:solidFill>
              <a:srgbClr val="C00000"/>
            </a:solidFill>
          </a:ln>
        </p:spPr>
        <p:style>
          <a:lnRef idx="1">
            <a:schemeClr val="accent1"/>
          </a:lnRef>
          <a:fillRef idx="0">
            <a:schemeClr val="accent1"/>
          </a:fillRef>
          <a:effectRef idx="0">
            <a:schemeClr val="accent1"/>
          </a:effectRef>
          <a:fontRef idx="minor">
            <a:schemeClr val="tx1"/>
          </a:fontRef>
        </p:style>
      </p:cxnSp>
      <p:sp>
        <p:nvSpPr>
          <p:cNvPr id="4" name="日期占位符 3"/>
          <p:cNvSpPr>
            <a:spLocks noGrp="1"/>
          </p:cNvSpPr>
          <p:nvPr>
            <p:ph type="dt" sz="half" idx="10"/>
          </p:nvPr>
        </p:nvSpPr>
        <p:spPr/>
        <p:txBody>
          <a:bodyPr/>
          <a:lstStyle/>
          <a:p>
            <a:fld id="{B2B9C2E3-AFCA-478E-965B-BCB6B2C94CE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156E37-25F9-48DB-B4D8-5875A04DC0B5}" type="slidenum">
              <a:rPr lang="zh-CN" altLang="en-US" smtClean="0"/>
            </a:fld>
            <a:endParaRPr lang="zh-CN" altLang="en-US"/>
          </a:p>
        </p:txBody>
      </p:sp>
      <p:grpSp>
        <p:nvGrpSpPr>
          <p:cNvPr id="17" name="组合 16"/>
          <p:cNvGrpSpPr/>
          <p:nvPr userDrawn="1"/>
        </p:nvGrpSpPr>
        <p:grpSpPr>
          <a:xfrm>
            <a:off x="11052960" y="161886"/>
            <a:ext cx="748897" cy="561471"/>
            <a:chOff x="2036763" y="-752475"/>
            <a:chExt cx="4411662" cy="4410075"/>
          </a:xfrm>
          <a:solidFill>
            <a:srgbClr val="C00000"/>
          </a:solidFill>
        </p:grpSpPr>
        <p:sp>
          <p:nvSpPr>
            <p:cNvPr id="18"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3"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B9C2E3-AFCA-478E-965B-BCB6B2C94CEA}" type="datetimeFigureOut">
              <a:rPr lang="zh-CN" altLang="en-US" smtClean="0"/>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156E37-25F9-48DB-B4D8-5875A04DC0B5}"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5.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5.xml"/><Relationship Id="rId2" Type="http://schemas.openxmlformats.org/officeDocument/2006/relationships/image" Target="../media/image7.pn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5.xml"/><Relationship Id="rId4" Type="http://schemas.openxmlformats.org/officeDocument/2006/relationships/image" Target="../media/image9.png"/><Relationship Id="rId3" Type="http://schemas.openxmlformats.org/officeDocument/2006/relationships/tags" Target="../tags/tag3.xml"/><Relationship Id="rId2" Type="http://schemas.openxmlformats.org/officeDocument/2006/relationships/image" Target="../media/image8.png"/><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5.xml"/><Relationship Id="rId4" Type="http://schemas.openxmlformats.org/officeDocument/2006/relationships/image" Target="../media/image11.png"/><Relationship Id="rId3" Type="http://schemas.openxmlformats.org/officeDocument/2006/relationships/tags" Target="../tags/tag5.xml"/><Relationship Id="rId2" Type="http://schemas.openxmlformats.org/officeDocument/2006/relationships/image" Target="../media/image10.png"/><Relationship Id="rId1" Type="http://schemas.openxmlformats.org/officeDocument/2006/relationships/tags" Target="../tags/tag4.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hemeOverride" Target="../theme/themeOverride4.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5.xml"/><Relationship Id="rId2" Type="http://schemas.openxmlformats.org/officeDocument/2006/relationships/image" Target="../media/image12.png"/><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5.xml"/><Relationship Id="rId2" Type="http://schemas.openxmlformats.org/officeDocument/2006/relationships/image" Target="../media/image13.png"/><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tags" Target="../tags/tag10.xml"/><Relationship Id="rId4" Type="http://schemas.openxmlformats.org/officeDocument/2006/relationships/image" Target="../media/image15.png"/><Relationship Id="rId3" Type="http://schemas.openxmlformats.org/officeDocument/2006/relationships/tags" Target="../tags/tag9.xml"/><Relationship Id="rId2" Type="http://schemas.openxmlformats.org/officeDocument/2006/relationships/image" Target="../media/image14.png"/><Relationship Id="rId1" Type="http://schemas.openxmlformats.org/officeDocument/2006/relationships/tags" Target="../tags/tag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5.xml"/><Relationship Id="rId2" Type="http://schemas.openxmlformats.org/officeDocument/2006/relationships/image" Target="../media/image17.png"/><Relationship Id="rId1" Type="http://schemas.openxmlformats.org/officeDocument/2006/relationships/tags" Target="../tags/tag11.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5.xml"/><Relationship Id="rId2" Type="http://schemas.openxmlformats.org/officeDocument/2006/relationships/image" Target="../media/image18.png"/><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5.xml"/><Relationship Id="rId2" Type="http://schemas.openxmlformats.org/officeDocument/2006/relationships/image" Target="../media/image19.png"/><Relationship Id="rId1" Type="http://schemas.openxmlformats.org/officeDocument/2006/relationships/tags" Target="../tags/tag13.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5.xml"/><Relationship Id="rId2" Type="http://schemas.openxmlformats.org/officeDocument/2006/relationships/image" Target="../media/image20.png"/><Relationship Id="rId1" Type="http://schemas.openxmlformats.org/officeDocument/2006/relationships/tags" Target="../tags/tag14.xml"/></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5.xml"/><Relationship Id="rId2" Type="http://schemas.openxmlformats.org/officeDocument/2006/relationships/image" Target="../media/image21.png"/><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5.xml"/><Relationship Id="rId2" Type="http://schemas.openxmlformats.org/officeDocument/2006/relationships/image" Target="../media/image22.png"/><Relationship Id="rId1" Type="http://schemas.openxmlformats.org/officeDocument/2006/relationships/tags" Target="../tags/tag16.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5.xml"/><Relationship Id="rId2" Type="http://schemas.openxmlformats.org/officeDocument/2006/relationships/image" Target="../media/image23.png"/><Relationship Id="rId1" Type="http://schemas.openxmlformats.org/officeDocument/2006/relationships/tags" Target="../tags/tag17.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hemeOverride" Target="../theme/themeOverride5.xml"/><Relationship Id="rId2" Type="http://schemas.openxmlformats.org/officeDocument/2006/relationships/tags" Target="../tags/tag18.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6" name="标题 5"/>
          <p:cNvSpPr>
            <a:spLocks noGrp="1"/>
          </p:cNvSpPr>
          <p:nvPr>
            <p:ph type="ctrTitle" idx="4294967295"/>
          </p:nvPr>
        </p:nvSpPr>
        <p:spPr>
          <a:xfrm>
            <a:off x="342900" y="2258963"/>
            <a:ext cx="11506200" cy="913907"/>
          </a:xfrm>
        </p:spPr>
        <p:txBody>
          <a:bodyPr vert="horz" lIns="91440" tIns="45720" rIns="91440" bIns="45720" rtlCol="0" anchor="ctr" anchorCtr="0">
            <a:noAutofit/>
          </a:bodyPr>
          <a:lstStyle/>
          <a:p>
            <a:pPr algn="ctr">
              <a:lnSpc>
                <a:spcPct val="150000"/>
              </a:lnSpc>
            </a:pPr>
            <a:r>
              <a:rPr lang="zh-CN" altLang="en-US" sz="5400" b="1" dirty="0">
                <a:solidFill>
                  <a:schemeClr val="bg1"/>
                </a:solidFill>
                <a:latin typeface="微软雅黑" panose="020B0503020204020204" pitchFamily="34" charset="-122"/>
                <a:ea typeface="微软雅黑" panose="020B0503020204020204" pitchFamily="34" charset="-122"/>
                <a:sym typeface="+mn-lt"/>
              </a:rPr>
              <a:t>资金收支预算管理系统</a:t>
            </a:r>
            <a:br>
              <a:rPr lang="en-US" altLang="zh-CN" sz="5400" b="1" dirty="0">
                <a:solidFill>
                  <a:schemeClr val="bg1"/>
                </a:solidFill>
                <a:latin typeface="微软雅黑" panose="020B0503020204020204" pitchFamily="34" charset="-122"/>
                <a:ea typeface="微软雅黑" panose="020B0503020204020204" pitchFamily="34" charset="-122"/>
                <a:sym typeface="+mn-lt"/>
              </a:rPr>
            </a:br>
            <a:r>
              <a:rPr lang="zh-CN" altLang="en-US" sz="5400" b="1" dirty="0">
                <a:solidFill>
                  <a:schemeClr val="bg1"/>
                </a:solidFill>
                <a:latin typeface="微软雅黑" panose="020B0503020204020204" pitchFamily="34" charset="-122"/>
                <a:ea typeface="微软雅黑" panose="020B0503020204020204" pitchFamily="34" charset="-122"/>
                <a:sym typeface="+mn-lt"/>
              </a:rPr>
              <a:t>系统管理操作培训</a:t>
            </a:r>
            <a:endParaRPr lang="zh-CN" sz="5400" b="1" dirty="0">
              <a:solidFill>
                <a:schemeClr val="bg1"/>
              </a:solidFill>
              <a:latin typeface="微软雅黑" panose="020B0503020204020204" pitchFamily="34" charset="-122"/>
              <a:ea typeface="微软雅黑" panose="020B0503020204020204" pitchFamily="34" charset="-122"/>
              <a:sym typeface="+mn-lt"/>
            </a:endParaRPr>
          </a:p>
        </p:txBody>
      </p:sp>
      <p:sp>
        <p:nvSpPr>
          <p:cNvPr id="7" name="副标题 6"/>
          <p:cNvSpPr>
            <a:spLocks noGrp="1"/>
          </p:cNvSpPr>
          <p:nvPr>
            <p:ph type="subTitle" idx="4294967295"/>
          </p:nvPr>
        </p:nvSpPr>
        <p:spPr>
          <a:xfrm>
            <a:off x="1523999" y="5340191"/>
            <a:ext cx="9144000" cy="662151"/>
          </a:xfrm>
        </p:spPr>
        <p:txBody>
          <a:bodyPr vert="horz" lIns="91440" tIns="45720" rIns="91440" bIns="45720" rtlCol="0" anchor="ctr" anchorCtr="0">
            <a:noAutofit/>
          </a:bodyPr>
          <a:lstStyle/>
          <a:p>
            <a:pPr marL="0" indent="0" algn="ctr">
              <a:lnSpc>
                <a:spcPts val="3860"/>
              </a:lnSpc>
              <a:buNone/>
            </a:pPr>
            <a:r>
              <a:rPr lang="en-US" altLang="zh-CN" sz="2000" dirty="0">
                <a:solidFill>
                  <a:schemeClr val="bg1"/>
                </a:solidFill>
                <a:latin typeface="微软雅黑" panose="020B0503020204020204" pitchFamily="34" charset="-122"/>
                <a:ea typeface="微软雅黑" panose="020B0503020204020204" pitchFamily="34" charset="-122"/>
                <a:sym typeface="+mn-lt"/>
              </a:rPr>
              <a:t>2023</a:t>
            </a:r>
            <a:r>
              <a:rPr lang="zh-CN" altLang="en-US" sz="2000" dirty="0">
                <a:solidFill>
                  <a:schemeClr val="bg1"/>
                </a:solidFill>
                <a:latin typeface="微软雅黑" panose="020B0503020204020204" pitchFamily="34" charset="-122"/>
                <a:ea typeface="微软雅黑" panose="020B0503020204020204" pitchFamily="34" charset="-122"/>
                <a:sym typeface="+mn-lt"/>
              </a:rPr>
              <a:t>年</a:t>
            </a:r>
            <a:r>
              <a:rPr lang="en-US" altLang="zh-CN" sz="2000" dirty="0">
                <a:solidFill>
                  <a:schemeClr val="bg1"/>
                </a:solidFill>
                <a:latin typeface="微软雅黑" panose="020B0503020204020204" pitchFamily="34" charset="-122"/>
                <a:ea typeface="微软雅黑" panose="020B0503020204020204" pitchFamily="34" charset="-122"/>
                <a:sym typeface="+mn-lt"/>
              </a:rPr>
              <a:t>5</a:t>
            </a:r>
            <a:r>
              <a:rPr lang="zh-CN" altLang="en-US" sz="2000" dirty="0">
                <a:solidFill>
                  <a:schemeClr val="bg1"/>
                </a:solidFill>
                <a:latin typeface="微软雅黑" panose="020B0503020204020204" pitchFamily="34" charset="-122"/>
                <a:ea typeface="微软雅黑" panose="020B0503020204020204" pitchFamily="34" charset="-122"/>
                <a:sym typeface="+mn-lt"/>
              </a:rPr>
              <a:t>月</a:t>
            </a:r>
            <a:endParaRPr lang="zh-CN" altLang="en-US" sz="2000" dirty="0">
              <a:solidFill>
                <a:schemeClr val="bg1"/>
              </a:solidFill>
              <a:latin typeface="微软雅黑" panose="020B0503020204020204" pitchFamily="34" charset="-122"/>
              <a:ea typeface="微软雅黑" panose="020B0503020204020204" pitchFamily="34" charset="-122"/>
              <a:sym typeface="+mn-lt"/>
            </a:endParaRPr>
          </a:p>
        </p:txBody>
      </p:sp>
      <p:grpSp>
        <p:nvGrpSpPr>
          <p:cNvPr id="12" name="组合 11"/>
          <p:cNvGrpSpPr/>
          <p:nvPr/>
        </p:nvGrpSpPr>
        <p:grpSpPr>
          <a:xfrm>
            <a:off x="-1764704" y="620688"/>
            <a:ext cx="1296144" cy="1800200"/>
            <a:chOff x="-1764704" y="620688"/>
            <a:chExt cx="1296144" cy="1800200"/>
          </a:xfrm>
        </p:grpSpPr>
        <p:sp>
          <p:nvSpPr>
            <p:cNvPr id="8" name="矩形 7"/>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矩形 8"/>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0" name="矩形 9"/>
            <p:cNvSpPr/>
            <p:nvPr/>
          </p:nvSpPr>
          <p:spPr>
            <a:xfrm>
              <a:off x="-1044624" y="1916832"/>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1" name="矩形 10"/>
            <p:cNvSpPr/>
            <p:nvPr/>
          </p:nvSpPr>
          <p:spPr>
            <a:xfrm>
              <a:off x="-1764704" y="1268760"/>
              <a:ext cx="576064" cy="504056"/>
            </a:xfrm>
            <a:prstGeom prst="rect">
              <a:avLst/>
            </a:prstGeom>
            <a:solidFill>
              <a:srgbClr val="CB2D2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2" name="矩形 1"/>
          <p:cNvSpPr/>
          <p:nvPr/>
        </p:nvSpPr>
        <p:spPr>
          <a:xfrm>
            <a:off x="2992755" y="4551045"/>
            <a:ext cx="5871845" cy="552450"/>
          </a:xfrm>
          <a:prstGeom prst="rect">
            <a:avLst/>
          </a:prstGeom>
        </p:spPr>
        <p:txBody>
          <a:bodyPr vert="horz" lIns="91440" tIns="45720" rIns="91440" bIns="45720" rtlCol="0" anchor="ctr" anchorCtr="0">
            <a:noAutofit/>
          </a:bodyPr>
          <a:lstStyle/>
          <a:p>
            <a:pPr algn="ctr">
              <a:lnSpc>
                <a:spcPts val="3860"/>
              </a:lnSpc>
              <a:spcBef>
                <a:spcPts val="1000"/>
              </a:spcBef>
              <a:buFont typeface="Arial" panose="020B0604020202020204" pitchFamily="34" charset="0"/>
              <a:buNone/>
            </a:pPr>
            <a:r>
              <a:rPr lang="zh-CN" altLang="en-US" sz="2400" dirty="0">
                <a:solidFill>
                  <a:schemeClr val="bg1"/>
                </a:solidFill>
                <a:latin typeface="微软雅黑" panose="020B0503020204020204" pitchFamily="34" charset="-122"/>
                <a:ea typeface="微软雅黑" panose="020B0503020204020204" pitchFamily="34" charset="-122"/>
                <a:sym typeface="+mn-lt"/>
              </a:rPr>
              <a:t>中国航空工业集团</a:t>
            </a:r>
            <a:r>
              <a:rPr lang="zh-CN" altLang="en-US" sz="2400" dirty="0">
                <a:solidFill>
                  <a:schemeClr val="bg1"/>
                </a:solidFill>
                <a:latin typeface="微软雅黑" panose="020B0503020204020204" pitchFamily="34" charset="-122"/>
                <a:ea typeface="微软雅黑" panose="020B0503020204020204" pitchFamily="34" charset="-122"/>
                <a:sym typeface="+mn-lt"/>
              </a:rPr>
              <a:t>有限公司</a:t>
            </a:r>
            <a:endParaRPr lang="zh-CN" altLang="en-US" sz="2400" dirty="0">
              <a:solidFill>
                <a:schemeClr val="bg1"/>
              </a:solidFill>
              <a:latin typeface="微软雅黑" panose="020B0503020204020204" pitchFamily="34" charset="-122"/>
              <a:ea typeface="微软雅黑" panose="020B0503020204020204" pitchFamily="34" charset="-122"/>
              <a:sym typeface="+mn-lt"/>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lang="en-US" altLang="zh-CN"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用户登录</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2752090" cy="521970"/>
          </a:xfrm>
          <a:prstGeom prst="rect">
            <a:avLst/>
          </a:prstGeom>
          <a:noFill/>
        </p:spPr>
        <p:txBody>
          <a:bodyPr wrap="square" rtlCol="0">
            <a:spAutoFit/>
          </a:bodyPr>
          <a:lstStyle/>
          <a:p>
            <a:pPr algn="l"/>
            <a:r>
              <a:rPr lang="zh-CN" altLang="zh-CN" sz="2800" b="1" dirty="0">
                <a:solidFill>
                  <a:schemeClr val="tx1"/>
                </a:solidFill>
                <a:latin typeface="微软雅黑" panose="020B0503020204020204" pitchFamily="34" charset="-122"/>
                <a:ea typeface="微软雅黑" panose="020B0503020204020204" pitchFamily="34" charset="-122"/>
                <a:cs typeface="+mn-ea"/>
                <a:sym typeface="+mn-lt"/>
              </a:rPr>
              <a:t>登录地址</a:t>
            </a:r>
            <a:endParaRPr lang="zh-CN" altLang="zh-CN" sz="28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611084" y="1628358"/>
            <a:ext cx="10793834" cy="1198880"/>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r>
              <a:rPr lang="zh-CN" altLang="en-US" sz="2400" dirty="0"/>
              <a:t>在浏览器输入资金收支预算</a:t>
            </a:r>
            <a:r>
              <a:rPr lang="zh-CN" altLang="en-US" sz="2400" dirty="0"/>
              <a:t>管理系统访问地址。</a:t>
            </a:r>
            <a:endParaRPr lang="zh-CN" altLang="en-US" sz="2400" dirty="0"/>
          </a:p>
          <a:p>
            <a:r>
              <a:rPr lang="zh-CN" altLang="en-US" sz="2400" dirty="0"/>
              <a:t>正式环境：https://trs.avicfc.com.cn/</a:t>
            </a:r>
            <a:endParaRPr lang="zh-CN" altLang="en-US" sz="2400" dirty="0"/>
          </a:p>
        </p:txBody>
      </p:sp>
      <p:sp>
        <p:nvSpPr>
          <p:cNvPr id="3" name="文本框 2"/>
          <p:cNvSpPr txBox="1"/>
          <p:nvPr/>
        </p:nvSpPr>
        <p:spPr>
          <a:xfrm>
            <a:off x="7654290" y="3133090"/>
            <a:ext cx="4262120" cy="239966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342900" indent="-342900">
              <a:buFont typeface="Wingdings" panose="05000000000000000000" charset="0"/>
              <a:buChar char="Ø"/>
            </a:pPr>
            <a:r>
              <a:rPr lang="zh-CN" altLang="en-US" dirty="0"/>
              <a:t>用户名：</a:t>
            </a:r>
            <a:r>
              <a:rPr lang="zh-CN" altLang="en-US" dirty="0">
                <a:solidFill>
                  <a:srgbClr val="FF0000"/>
                </a:solidFill>
              </a:rPr>
              <a:t>统一社会信用代码后</a:t>
            </a:r>
            <a:r>
              <a:rPr lang="en-US" altLang="zh-CN" dirty="0">
                <a:solidFill>
                  <a:srgbClr val="FF0000"/>
                </a:solidFill>
              </a:rPr>
              <a:t>8</a:t>
            </a:r>
            <a:r>
              <a:rPr lang="zh-CN" altLang="en-US" dirty="0">
                <a:solidFill>
                  <a:srgbClr val="FF0000"/>
                </a:solidFill>
              </a:rPr>
              <a:t>位</a:t>
            </a:r>
            <a:endParaRPr lang="zh-CN" altLang="en-US" dirty="0"/>
          </a:p>
          <a:p>
            <a:pPr marL="342900" indent="-342900">
              <a:buFont typeface="Wingdings" panose="05000000000000000000" charset="0"/>
              <a:buChar char="Ø"/>
            </a:pPr>
            <a:r>
              <a:rPr lang="zh-CN" altLang="en-US" dirty="0">
                <a:sym typeface="+mn-ea"/>
              </a:rPr>
              <a:t>初始密码：</a:t>
            </a:r>
            <a:r>
              <a:rPr lang="en-US" altLang="zh-CN" dirty="0">
                <a:solidFill>
                  <a:srgbClr val="FF0000"/>
                </a:solidFill>
                <a:sym typeface="+mn-ea"/>
              </a:rPr>
              <a:t>a</a:t>
            </a:r>
            <a:r>
              <a:rPr lang="zh-CN" altLang="en-US" dirty="0">
                <a:solidFill>
                  <a:srgbClr val="FF0000"/>
                </a:solidFill>
                <a:sym typeface="+mn-ea"/>
              </a:rPr>
              <a:t>123456</a:t>
            </a:r>
            <a:endParaRPr lang="zh-CN" altLang="en-US" dirty="0">
              <a:solidFill>
                <a:srgbClr val="FF0000"/>
              </a:solidFill>
              <a:sym typeface="+mn-ea"/>
            </a:endParaRPr>
          </a:p>
          <a:p>
            <a:pPr marL="342900" indent="-342900">
              <a:buFont typeface="Wingdings" panose="05000000000000000000" charset="0"/>
              <a:buChar char="Ø"/>
            </a:pPr>
            <a:r>
              <a:rPr lang="zh-CN" altLang="en-US" dirty="0">
                <a:sym typeface="+mn-ea"/>
              </a:rPr>
              <a:t>输入</a:t>
            </a:r>
            <a:r>
              <a:rPr lang="zh-CN" altLang="en-US" dirty="0">
                <a:solidFill>
                  <a:srgbClr val="C00000"/>
                </a:solidFill>
                <a:sym typeface="+mn-ea"/>
              </a:rPr>
              <a:t>用户名、密码和验证码（算式的结果）</a:t>
            </a:r>
            <a:r>
              <a:rPr lang="zh-CN" altLang="en-US" dirty="0">
                <a:sym typeface="+mn-ea"/>
              </a:rPr>
              <a:t>后，点击【登录】按钮，进入系统</a:t>
            </a:r>
            <a:endParaRPr lang="zh-CN" altLang="en-US" dirty="0">
              <a:solidFill>
                <a:srgbClr val="FF0000"/>
              </a:solidFill>
              <a:sym typeface="+mn-ea"/>
            </a:endParaRPr>
          </a:p>
        </p:txBody>
      </p:sp>
      <p:pic>
        <p:nvPicPr>
          <p:cNvPr id="4" name="图片 3"/>
          <p:cNvPicPr>
            <a:picLocks noChangeAspect="1"/>
          </p:cNvPicPr>
          <p:nvPr/>
        </p:nvPicPr>
        <p:blipFill>
          <a:blip r:embed="rId1"/>
          <a:stretch>
            <a:fillRect/>
          </a:stretch>
        </p:blipFill>
        <p:spPr>
          <a:xfrm>
            <a:off x="610870" y="2973070"/>
            <a:ext cx="6853555" cy="3016885"/>
          </a:xfrm>
          <a:prstGeom prst="rect">
            <a:avLst/>
          </a:prstGeom>
        </p:spPr>
      </p:pic>
      <p:sp>
        <p:nvSpPr>
          <p:cNvPr id="2" name="文本框 1"/>
          <p:cNvSpPr txBox="1"/>
          <p:nvPr/>
        </p:nvSpPr>
        <p:spPr>
          <a:xfrm>
            <a:off x="555204" y="6107013"/>
            <a:ext cx="10793834" cy="506730"/>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r>
              <a:rPr lang="zh-CN" altLang="en-US" sz="1800" dirty="0">
                <a:solidFill>
                  <a:srgbClr val="FF0000"/>
                </a:solidFill>
              </a:rPr>
              <a:t>待司库综合门户系统上线后，通过司库综合门户</a:t>
            </a:r>
            <a:r>
              <a:rPr lang="zh-CN" altLang="en-US" sz="1800" dirty="0">
                <a:solidFill>
                  <a:srgbClr val="FF0000"/>
                </a:solidFill>
              </a:rPr>
              <a:t>系统跳转登录。</a:t>
            </a:r>
            <a:endParaRPr lang="zh-CN" altLang="en-US" sz="1800" dirty="0">
              <a:solidFill>
                <a:srgbClr val="FF0000"/>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endParaRPr lang="en-US" altLang="zh-CN"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用户登录</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4262120" cy="521970"/>
          </a:xfrm>
          <a:prstGeom prst="rect">
            <a:avLst/>
          </a:prstGeom>
          <a:noFill/>
        </p:spPr>
        <p:txBody>
          <a:bodyPr wrap="square" rtlCol="0">
            <a:spAutoFit/>
          </a:bodyPr>
          <a:lstStyle/>
          <a:p>
            <a:pPr algn="l"/>
            <a:r>
              <a:rPr lang="zh-CN" altLang="zh-CN" sz="2800" b="1" dirty="0">
                <a:solidFill>
                  <a:schemeClr val="tx1"/>
                </a:solidFill>
                <a:latin typeface="微软雅黑" panose="020B0503020204020204" pitchFamily="34" charset="-122"/>
                <a:ea typeface="微软雅黑" panose="020B0503020204020204" pitchFamily="34" charset="-122"/>
                <a:cs typeface="+mn-ea"/>
                <a:sym typeface="+mn-lt"/>
              </a:rPr>
              <a:t>首次登录需修改密码</a:t>
            </a:r>
            <a:endParaRPr lang="zh-CN" altLang="zh-CN" sz="28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611084" y="1823938"/>
            <a:ext cx="10793834" cy="1198880"/>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r>
              <a:rPr lang="zh-CN" altLang="en-US" sz="2400" dirty="0"/>
              <a:t>密码要求：第一次登录系统后修改密码。密码须以字母开头，包含字母、数字、符号，且长度不小于8位。</a:t>
            </a:r>
            <a:endParaRPr lang="zh-CN" altLang="en-US" sz="2400" dirty="0"/>
          </a:p>
        </p:txBody>
      </p:sp>
      <p:pic>
        <p:nvPicPr>
          <p:cNvPr id="4" name="图片 3"/>
          <p:cNvPicPr>
            <a:picLocks noChangeAspect="1"/>
          </p:cNvPicPr>
          <p:nvPr/>
        </p:nvPicPr>
        <p:blipFill>
          <a:blip r:embed="rId1"/>
          <a:stretch>
            <a:fillRect/>
          </a:stretch>
        </p:blipFill>
        <p:spPr>
          <a:xfrm>
            <a:off x="5135245" y="3657600"/>
            <a:ext cx="5755640" cy="2171700"/>
          </a:xfrm>
          <a:prstGeom prst="rect">
            <a:avLst/>
          </a:prstGeom>
          <a:noFill/>
          <a:ln>
            <a:noFill/>
          </a:ln>
        </p:spPr>
      </p:pic>
      <p:pic>
        <p:nvPicPr>
          <p:cNvPr id="3" name="图片 2"/>
          <p:cNvPicPr>
            <a:picLocks noChangeAspect="1"/>
          </p:cNvPicPr>
          <p:nvPr/>
        </p:nvPicPr>
        <p:blipFill>
          <a:blip r:embed="rId2"/>
          <a:stretch>
            <a:fillRect/>
          </a:stretch>
        </p:blipFill>
        <p:spPr>
          <a:xfrm>
            <a:off x="1389380" y="3810000"/>
            <a:ext cx="2781300" cy="16383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952"/>
            <a:ext cx="3071664" cy="6859952"/>
            <a:chOff x="0" y="-1952"/>
            <a:chExt cx="3071664" cy="6859952"/>
          </a:xfrm>
        </p:grpSpPr>
        <p:sp>
          <p:nvSpPr>
            <p:cNvPr id="18" name="矩形 17"/>
            <p:cNvSpPr/>
            <p:nvPr/>
          </p:nvSpPr>
          <p:spPr>
            <a:xfrm>
              <a:off x="0" y="-1949"/>
              <a:ext cx="1260396" cy="685994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sp>
          <p:nvSpPr>
            <p:cNvPr id="19" name="等腰三角形 18"/>
            <p:cNvSpPr/>
            <p:nvPr/>
          </p:nvSpPr>
          <p:spPr>
            <a:xfrm rot="5400000">
              <a:off x="-1268207" y="2518127"/>
              <a:ext cx="6859949" cy="1819792"/>
            </a:xfrm>
            <a:prstGeom prst="triangl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cs typeface="+mn-ea"/>
                <a:sym typeface="+mn-lt"/>
              </a:endParaRPr>
            </a:p>
          </p:txBody>
        </p:sp>
      </p:grpSp>
      <p:cxnSp>
        <p:nvCxnSpPr>
          <p:cNvPr id="20" name="直接连接符 19"/>
          <p:cNvCxnSpPr/>
          <p:nvPr/>
        </p:nvCxnSpPr>
        <p:spPr>
          <a:xfrm>
            <a:off x="1260396" y="-13986"/>
            <a:ext cx="1811268" cy="344201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251872" y="3428025"/>
            <a:ext cx="1819792" cy="3429974"/>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95400" y="3075057"/>
            <a:ext cx="1362874" cy="707886"/>
          </a:xfrm>
          <a:prstGeom prst="rect">
            <a:avLst/>
          </a:prstGeom>
          <a:noFill/>
        </p:spPr>
        <p:txBody>
          <a:bodyPr wrap="none" rtlCol="0">
            <a:spAutoFit/>
          </a:bodyPr>
          <a:lstStyle/>
          <a:p>
            <a:pPr algn="ctr"/>
            <a:r>
              <a:rPr lang="zh-CN" altLang="en-US" sz="4000" b="1" dirty="0">
                <a:solidFill>
                  <a:srgbClr val="C00000"/>
                </a:solidFill>
                <a:latin typeface="+mn-lt"/>
                <a:ea typeface="+mn-ea"/>
                <a:cs typeface="+mn-ea"/>
                <a:sym typeface="+mn-lt"/>
              </a:rPr>
              <a:t>目 录</a:t>
            </a:r>
            <a:endParaRPr lang="zh-CN" altLang="en-US" sz="4000" b="1" dirty="0">
              <a:solidFill>
                <a:srgbClr val="C00000"/>
              </a:solidFill>
              <a:latin typeface="+mn-lt"/>
              <a:ea typeface="+mn-ea"/>
              <a:cs typeface="+mn-ea"/>
              <a:sym typeface="+mn-lt"/>
            </a:endParaRPr>
          </a:p>
        </p:txBody>
      </p:sp>
      <p:grpSp>
        <p:nvGrpSpPr>
          <p:cNvPr id="3" name="组合 2"/>
          <p:cNvGrpSpPr/>
          <p:nvPr/>
        </p:nvGrpSpPr>
        <p:grpSpPr>
          <a:xfrm>
            <a:off x="3034189" y="1479697"/>
            <a:ext cx="9158287" cy="536245"/>
            <a:chOff x="4378815" y="1412776"/>
            <a:chExt cx="7451377" cy="536245"/>
          </a:xfrm>
        </p:grpSpPr>
        <p:sp>
          <p:nvSpPr>
            <p:cNvPr id="16" name="平行四边形 15"/>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一</a:t>
              </a:r>
              <a:endParaRPr lang="zh-CN" altLang="en-US" sz="2000" dirty="0">
                <a:cs typeface="+mn-ea"/>
                <a:sym typeface="+mn-lt"/>
              </a:endParaRPr>
            </a:p>
          </p:txBody>
        </p:sp>
        <p:sp>
          <p:nvSpPr>
            <p:cNvPr id="23" name="TextBox 22"/>
            <p:cNvSpPr txBox="1"/>
            <p:nvPr/>
          </p:nvSpPr>
          <p:spPr>
            <a:xfrm>
              <a:off x="5663951" y="1412776"/>
              <a:ext cx="6166241" cy="478155"/>
            </a:xfrm>
            <a:prstGeom prst="rect">
              <a:avLst/>
            </a:prstGeom>
            <a:noFill/>
          </p:spPr>
          <p:txBody>
            <a:bodyPr wrap="square" rtlCol="0">
              <a:noAutofit/>
            </a:bodyPr>
            <a:lstStyle/>
            <a:p>
              <a:pPr lvl="0" algn="l">
                <a:lnSpc>
                  <a:spcPct val="90000"/>
                </a:lnSpc>
                <a:spcBef>
                  <a:spcPts val="1000"/>
                </a:spcBef>
                <a:buClrTx/>
                <a:buSzTx/>
                <a:buFontTx/>
              </a:pPr>
              <a:r>
                <a:rPr lang="zh-CN" altLang="zh-CN" sz="2800" b="1" spc="600" dirty="0">
                  <a:solidFill>
                    <a:srgbClr val="C00000"/>
                  </a:solidFill>
                  <a:latin typeface="+mn-lt"/>
                  <a:ea typeface="+mn-ea"/>
                  <a:cs typeface="+mn-ea"/>
                  <a:sym typeface="+mn-lt"/>
                </a:rPr>
                <a:t>机构管理</a:t>
              </a:r>
              <a:endParaRPr lang="zh-CN" altLang="zh-CN" sz="2800" b="1" spc="600" dirty="0">
                <a:solidFill>
                  <a:srgbClr val="C00000"/>
                </a:solidFill>
                <a:latin typeface="+mn-lt"/>
                <a:ea typeface="+mn-ea"/>
                <a:cs typeface="+mn-ea"/>
                <a:sym typeface="+mn-lt"/>
              </a:endParaRPr>
            </a:p>
          </p:txBody>
        </p:sp>
        <p:cxnSp>
          <p:nvCxnSpPr>
            <p:cNvPr id="24" name="直接连接符 23"/>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3034189" y="2593902"/>
            <a:ext cx="7637115" cy="536245"/>
            <a:chOff x="4378815" y="1412776"/>
            <a:chExt cx="6292565" cy="536245"/>
          </a:xfrm>
        </p:grpSpPr>
        <p:sp>
          <p:nvSpPr>
            <p:cNvPr id="35" name="平行四边形 34"/>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二</a:t>
              </a:r>
              <a:endParaRPr lang="zh-CN" altLang="en-US" sz="2000" dirty="0">
                <a:cs typeface="+mn-ea"/>
                <a:sym typeface="+mn-lt"/>
              </a:endParaRPr>
            </a:p>
          </p:txBody>
        </p:sp>
        <p:sp>
          <p:nvSpPr>
            <p:cNvPr id="36" name="TextBox 22"/>
            <p:cNvSpPr txBox="1"/>
            <p:nvPr/>
          </p:nvSpPr>
          <p:spPr>
            <a:xfrm>
              <a:off x="5663952" y="1412776"/>
              <a:ext cx="5007428" cy="478155"/>
            </a:xfrm>
            <a:prstGeom prst="rect">
              <a:avLst/>
            </a:prstGeom>
            <a:noFill/>
          </p:spPr>
          <p:txBody>
            <a:bodyPr wrap="square" rtlCol="0">
              <a:spAutoFit/>
            </a:bodyPr>
            <a:lstStyle/>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角色岗位</a:t>
              </a:r>
              <a:endParaRPr lang="zh-CN" sz="2800" b="1" spc="600" dirty="0">
                <a:solidFill>
                  <a:schemeClr val="bg1">
                    <a:lumMod val="50000"/>
                  </a:schemeClr>
                </a:solidFill>
                <a:latin typeface="+mn-lt"/>
                <a:ea typeface="+mn-ea"/>
                <a:cs typeface="+mn-ea"/>
                <a:sym typeface="+mn-lt"/>
              </a:endParaRPr>
            </a:p>
          </p:txBody>
        </p:sp>
        <p:cxnSp>
          <p:nvCxnSpPr>
            <p:cNvPr id="37" name="直接连接符 36"/>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1044624" y="620688"/>
            <a:ext cx="576064" cy="2448272"/>
            <a:chOff x="-1044624" y="620688"/>
            <a:chExt cx="576064" cy="2448272"/>
          </a:xfrm>
        </p:grpSpPr>
        <p:sp>
          <p:nvSpPr>
            <p:cNvPr id="29" name="矩形 2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53"/>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p:cNvGrpSpPr/>
          <p:nvPr/>
        </p:nvGrpSpPr>
        <p:grpSpPr>
          <a:xfrm>
            <a:off x="3071654" y="3772462"/>
            <a:ext cx="7637115" cy="536245"/>
            <a:chOff x="4378815" y="1412776"/>
            <a:chExt cx="6292565" cy="536245"/>
          </a:xfrm>
        </p:grpSpPr>
        <p:sp>
          <p:nvSpPr>
            <p:cNvPr id="6" name="平行四边形 5"/>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zh-CN" altLang="en-US" sz="2000" dirty="0">
                  <a:cs typeface="+mn-ea"/>
                  <a:sym typeface="+mn-lt"/>
                </a:rPr>
                <a:t>三</a:t>
              </a:r>
              <a:endParaRPr lang="zh-CN" altLang="en-US" sz="2000" dirty="0">
                <a:cs typeface="+mn-ea"/>
                <a:sym typeface="+mn-lt"/>
              </a:endParaRPr>
            </a:p>
          </p:txBody>
        </p:sp>
        <p:sp>
          <p:nvSpPr>
            <p:cNvPr id="7" name="TextBox 22"/>
            <p:cNvSpPr txBox="1"/>
            <p:nvPr/>
          </p:nvSpPr>
          <p:spPr>
            <a:xfrm>
              <a:off x="5663952" y="1412776"/>
              <a:ext cx="5007428" cy="478155"/>
            </a:xfrm>
            <a:prstGeom prst="rect">
              <a:avLst/>
            </a:prstGeom>
            <a:noFill/>
          </p:spPr>
          <p:txBody>
            <a:bodyPr wrap="square" rtlCol="0">
              <a:spAutoFit/>
            </a:bodyPr>
            <a:lstStyle/>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用户管理</a:t>
              </a:r>
              <a:endParaRPr lang="zh-CN" sz="2800" b="1" spc="600" dirty="0">
                <a:solidFill>
                  <a:schemeClr val="bg1">
                    <a:lumMod val="50000"/>
                  </a:schemeClr>
                </a:solidFill>
                <a:latin typeface="+mn-lt"/>
                <a:ea typeface="+mn-ea"/>
                <a:cs typeface="+mn-ea"/>
                <a:sym typeface="+mn-lt"/>
              </a:endParaRPr>
            </a:p>
          </p:txBody>
        </p:sp>
        <p:cxnSp>
          <p:nvCxnSpPr>
            <p:cNvPr id="8" name="直接连接符 7"/>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3056414" y="4958007"/>
            <a:ext cx="7637115" cy="536245"/>
            <a:chOff x="4378815" y="1412776"/>
            <a:chExt cx="6292565" cy="536245"/>
          </a:xfrm>
        </p:grpSpPr>
        <p:sp>
          <p:nvSpPr>
            <p:cNvPr id="10" name="平行四边形 9"/>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zh-CN" altLang="en-US" sz="2000" dirty="0">
                  <a:cs typeface="+mn-ea"/>
                  <a:sym typeface="+mn-lt"/>
                </a:rPr>
                <a:t>四</a:t>
              </a:r>
              <a:endParaRPr lang="zh-CN" altLang="en-US" sz="2000" dirty="0">
                <a:cs typeface="+mn-ea"/>
                <a:sym typeface="+mn-lt"/>
              </a:endParaRPr>
            </a:p>
          </p:txBody>
        </p:sp>
        <p:sp>
          <p:nvSpPr>
            <p:cNvPr id="12" name="TextBox 22"/>
            <p:cNvSpPr txBox="1"/>
            <p:nvPr/>
          </p:nvSpPr>
          <p:spPr>
            <a:xfrm>
              <a:off x="5663952" y="1412776"/>
              <a:ext cx="5007428" cy="478155"/>
            </a:xfrm>
            <a:prstGeom prst="rect">
              <a:avLst/>
            </a:prstGeom>
            <a:noFill/>
          </p:spPr>
          <p:txBody>
            <a:bodyPr wrap="square" rtlCol="0">
              <a:spAutoFit/>
            </a:bodyPr>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岗位流程配置</a:t>
              </a:r>
              <a:endParaRPr lang="zh-CN" sz="2800" b="1" spc="600" dirty="0">
                <a:solidFill>
                  <a:schemeClr val="bg1">
                    <a:lumMod val="50000"/>
                  </a:schemeClr>
                </a:solidFill>
                <a:latin typeface="+mn-lt"/>
                <a:ea typeface="+mn-ea"/>
                <a:cs typeface="+mn-ea"/>
                <a:sym typeface="+mn-lt"/>
              </a:endParaRPr>
            </a:p>
          </p:txBody>
        </p:sp>
        <p:cxnSp>
          <p:nvCxnSpPr>
            <p:cNvPr id="13" name="直接连接符 12"/>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一</a:t>
            </a:r>
            <a:endParaRPr lang="en-US" altLang="zh-CN"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机构管理</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2752090" cy="521970"/>
          </a:xfrm>
          <a:prstGeom prst="rect">
            <a:avLst/>
          </a:prstGeom>
          <a:noFill/>
        </p:spPr>
        <p:txBody>
          <a:bodyPr wrap="square" rtlCol="0">
            <a:spAutoFit/>
          </a:bodyPr>
          <a:lstStyle/>
          <a:p>
            <a:pPr algn="l"/>
            <a:r>
              <a:rPr lang="zh-CN" altLang="zh-CN" sz="2800" b="1" dirty="0">
                <a:solidFill>
                  <a:schemeClr val="tx1"/>
                </a:solidFill>
                <a:latin typeface="微软雅黑" panose="020B0503020204020204" pitchFamily="34" charset="-122"/>
                <a:ea typeface="微软雅黑" panose="020B0503020204020204" pitchFamily="34" charset="-122"/>
                <a:cs typeface="+mn-ea"/>
                <a:sym typeface="+mn-lt"/>
              </a:rPr>
              <a:t>机构管理</a:t>
            </a:r>
            <a:endParaRPr lang="zh-CN" altLang="zh-CN" sz="2800" b="1" dirty="0">
              <a:solidFill>
                <a:schemeClr val="tx1"/>
              </a:solidFill>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554990" y="1405255"/>
            <a:ext cx="11205845" cy="1938020"/>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zh-CN" altLang="en-US" dirty="0">
                <a:sym typeface="+mn-ea"/>
              </a:rPr>
              <a:t>机构管理主要是完成集团各层级单位信息设置（管理层级），</a:t>
            </a:r>
            <a:r>
              <a:rPr lang="zh-CN" altLang="en-US" dirty="0"/>
              <a:t>单位系统管理员拥有本单位及下级单位基本信息的维护权限。根据集团公司司库系统上线安排，各单位统一通过资金收支预算管理系统开展机构管理的上线初始化配置。在司库综合门户系统上线后，通过司库综合门户系统开展单位管理层级调整，维护后的</a:t>
            </a:r>
            <a:r>
              <a:rPr lang="zh-CN" altLang="en-US" dirty="0"/>
              <a:t>单位信息将自动同步至资金收支预算管理系统。</a:t>
            </a:r>
            <a:endParaRPr lang="zh-CN" altLang="en-US" dirty="0"/>
          </a:p>
        </p:txBody>
      </p:sp>
      <p:sp>
        <p:nvSpPr>
          <p:cNvPr id="3" name="文本框 2"/>
          <p:cNvSpPr txBox="1"/>
          <p:nvPr/>
        </p:nvSpPr>
        <p:spPr>
          <a:xfrm>
            <a:off x="7631430" y="3383280"/>
            <a:ext cx="4104005" cy="3415030"/>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marL="342900" indent="-342900">
              <a:buFont typeface="Wingdings" panose="05000000000000000000" charset="0"/>
              <a:buChar char="Ø"/>
            </a:pPr>
            <a:r>
              <a:rPr lang="zh-CN" altLang="en-US" sz="1800" dirty="0"/>
              <a:t>新增单位</a:t>
            </a:r>
            <a:r>
              <a:rPr lang="en-US" altLang="zh-CN" sz="1800" dirty="0"/>
              <a:t>/</a:t>
            </a:r>
            <a:r>
              <a:rPr lang="zh-CN" altLang="en-US" sz="1800" dirty="0"/>
              <a:t>部门信息</a:t>
            </a:r>
            <a:endParaRPr lang="zh-CN" altLang="en-US" sz="1800" dirty="0"/>
          </a:p>
          <a:p>
            <a:pPr marL="342900" indent="-342900">
              <a:buFont typeface="Wingdings" panose="05000000000000000000" charset="0"/>
              <a:buChar char="Ø"/>
            </a:pPr>
            <a:r>
              <a:rPr lang="zh-CN" altLang="en-US" sz="1800" dirty="0"/>
              <a:t>变更</a:t>
            </a:r>
            <a:r>
              <a:rPr lang="zh-CN" altLang="en-US" sz="1800" dirty="0">
                <a:sym typeface="+mn-ea"/>
              </a:rPr>
              <a:t>单位</a:t>
            </a:r>
            <a:r>
              <a:rPr lang="en-US" altLang="zh-CN" sz="1800" dirty="0"/>
              <a:t>/</a:t>
            </a:r>
            <a:r>
              <a:rPr lang="zh-CN" altLang="en-US" sz="1800" dirty="0"/>
              <a:t>部门信息</a:t>
            </a:r>
            <a:endParaRPr lang="zh-CN" altLang="en-US" sz="1800" dirty="0"/>
          </a:p>
          <a:p>
            <a:pPr marL="342900" indent="-342900">
              <a:buFont typeface="Wingdings" panose="05000000000000000000" charset="0"/>
              <a:buChar char="Ø"/>
            </a:pPr>
            <a:r>
              <a:rPr lang="zh-CN" altLang="en-US" sz="1800" dirty="0"/>
              <a:t>删除</a:t>
            </a:r>
            <a:r>
              <a:rPr lang="zh-CN" altLang="en-US" sz="1800" dirty="0">
                <a:sym typeface="+mn-ea"/>
              </a:rPr>
              <a:t>单位</a:t>
            </a:r>
            <a:r>
              <a:rPr lang="en-US" altLang="zh-CN" sz="1800" dirty="0"/>
              <a:t>/</a:t>
            </a:r>
            <a:r>
              <a:rPr lang="zh-CN" altLang="en-US" sz="1800" dirty="0"/>
              <a:t>部门信息</a:t>
            </a:r>
            <a:endParaRPr lang="zh-CN" altLang="en-US" sz="1800" dirty="0"/>
          </a:p>
          <a:p>
            <a:pPr marL="342900" indent="-342900">
              <a:buFont typeface="Wingdings" panose="05000000000000000000" charset="0"/>
              <a:buChar char="Ø"/>
            </a:pPr>
            <a:r>
              <a:rPr lang="zh-CN" altLang="en-US" sz="1800" dirty="0"/>
              <a:t>机构迁移，单位重组后更改</a:t>
            </a:r>
            <a:r>
              <a:rPr lang="zh-CN" altLang="en-US" sz="1800" dirty="0"/>
              <a:t>单位的上级</a:t>
            </a:r>
            <a:endParaRPr lang="zh-CN" altLang="en-US" sz="1800" dirty="0"/>
          </a:p>
          <a:p>
            <a:pPr marL="342900" indent="-342900">
              <a:buFont typeface="Wingdings" panose="05000000000000000000" charset="0"/>
              <a:buChar char="Ø"/>
            </a:pPr>
            <a:r>
              <a:rPr lang="zh-CN" altLang="en-US" sz="1800" dirty="0">
                <a:solidFill>
                  <a:srgbClr val="FF0000"/>
                </a:solidFill>
              </a:rPr>
              <a:t>统一社会信用代码需准确填写，</a:t>
            </a:r>
            <a:r>
              <a:rPr lang="zh-CN" altLang="en-US" sz="1800" dirty="0">
                <a:solidFill>
                  <a:srgbClr val="FF0000"/>
                </a:solidFill>
                <a:sym typeface="+mn-ea"/>
              </a:rPr>
              <a:t>作为</a:t>
            </a:r>
            <a:r>
              <a:rPr lang="zh-CN" altLang="en-US" sz="1800" dirty="0">
                <a:solidFill>
                  <a:srgbClr val="FF0000"/>
                </a:solidFill>
              </a:rPr>
              <a:t>与财司网银、财务核算等系统对接的唯一标识</a:t>
            </a:r>
            <a:endParaRPr lang="zh-CN" altLang="en-US" sz="1800" dirty="0"/>
          </a:p>
        </p:txBody>
      </p:sp>
      <p:pic>
        <p:nvPicPr>
          <p:cNvPr id="4" name="图片 3"/>
          <p:cNvPicPr>
            <a:picLocks noChangeAspect="1"/>
          </p:cNvPicPr>
          <p:nvPr>
            <p:custDataLst>
              <p:tags r:id="rId1"/>
            </p:custDataLst>
          </p:nvPr>
        </p:nvPicPr>
        <p:blipFill>
          <a:blip r:embed="rId2"/>
          <a:stretch>
            <a:fillRect/>
          </a:stretch>
        </p:blipFill>
        <p:spPr>
          <a:xfrm>
            <a:off x="371475" y="3514725"/>
            <a:ext cx="7101205" cy="326580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952"/>
            <a:ext cx="3071664" cy="6859952"/>
            <a:chOff x="0" y="-1952"/>
            <a:chExt cx="3071664" cy="6859952"/>
          </a:xfrm>
        </p:grpSpPr>
        <p:sp>
          <p:nvSpPr>
            <p:cNvPr id="18" name="矩形 17"/>
            <p:cNvSpPr/>
            <p:nvPr/>
          </p:nvSpPr>
          <p:spPr>
            <a:xfrm>
              <a:off x="0" y="-1949"/>
              <a:ext cx="1260396" cy="685994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sp>
          <p:nvSpPr>
            <p:cNvPr id="19" name="等腰三角形 18"/>
            <p:cNvSpPr/>
            <p:nvPr/>
          </p:nvSpPr>
          <p:spPr>
            <a:xfrm rot="5400000">
              <a:off x="-1268207" y="2518127"/>
              <a:ext cx="6859949" cy="1819792"/>
            </a:xfrm>
            <a:prstGeom prst="triangl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cs typeface="+mn-ea"/>
                <a:sym typeface="+mn-lt"/>
              </a:endParaRPr>
            </a:p>
          </p:txBody>
        </p:sp>
      </p:grpSp>
      <p:cxnSp>
        <p:nvCxnSpPr>
          <p:cNvPr id="20" name="直接连接符 19"/>
          <p:cNvCxnSpPr/>
          <p:nvPr/>
        </p:nvCxnSpPr>
        <p:spPr>
          <a:xfrm>
            <a:off x="1260396" y="-13986"/>
            <a:ext cx="1811268" cy="344201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251872" y="3428025"/>
            <a:ext cx="1819792" cy="3429974"/>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95400" y="3075057"/>
            <a:ext cx="1362874" cy="707886"/>
          </a:xfrm>
          <a:prstGeom prst="rect">
            <a:avLst/>
          </a:prstGeom>
          <a:noFill/>
        </p:spPr>
        <p:txBody>
          <a:bodyPr wrap="none" rtlCol="0">
            <a:spAutoFit/>
          </a:bodyPr>
          <a:lstStyle/>
          <a:p>
            <a:pPr algn="ctr"/>
            <a:r>
              <a:rPr lang="zh-CN" altLang="en-US" sz="4000" b="1" dirty="0">
                <a:solidFill>
                  <a:srgbClr val="C00000"/>
                </a:solidFill>
                <a:latin typeface="+mn-lt"/>
                <a:ea typeface="+mn-ea"/>
                <a:cs typeface="+mn-ea"/>
                <a:sym typeface="+mn-lt"/>
              </a:rPr>
              <a:t>目 录</a:t>
            </a:r>
            <a:endParaRPr lang="zh-CN" altLang="en-US" sz="4000" b="1" dirty="0">
              <a:solidFill>
                <a:srgbClr val="C00000"/>
              </a:solidFill>
              <a:latin typeface="+mn-lt"/>
              <a:ea typeface="+mn-ea"/>
              <a:cs typeface="+mn-ea"/>
              <a:sym typeface="+mn-lt"/>
            </a:endParaRPr>
          </a:p>
        </p:txBody>
      </p:sp>
      <p:grpSp>
        <p:nvGrpSpPr>
          <p:cNvPr id="3" name="组合 2"/>
          <p:cNvGrpSpPr/>
          <p:nvPr/>
        </p:nvGrpSpPr>
        <p:grpSpPr>
          <a:xfrm>
            <a:off x="3034189" y="1479697"/>
            <a:ext cx="9158287" cy="536245"/>
            <a:chOff x="4378815" y="1412776"/>
            <a:chExt cx="7451377" cy="536245"/>
          </a:xfrm>
        </p:grpSpPr>
        <p:sp>
          <p:nvSpPr>
            <p:cNvPr id="16" name="平行四边形 15"/>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一</a:t>
              </a:r>
              <a:endParaRPr lang="zh-CN" altLang="en-US" sz="2000" dirty="0">
                <a:cs typeface="+mn-ea"/>
                <a:sym typeface="+mn-lt"/>
              </a:endParaRPr>
            </a:p>
          </p:txBody>
        </p:sp>
        <p:sp>
          <p:nvSpPr>
            <p:cNvPr id="23" name="TextBox 22"/>
            <p:cNvSpPr txBox="1"/>
            <p:nvPr/>
          </p:nvSpPr>
          <p:spPr>
            <a:xfrm>
              <a:off x="5663951" y="1412776"/>
              <a:ext cx="6166241" cy="478155"/>
            </a:xfrm>
            <a:prstGeom prst="rect">
              <a:avLst/>
            </a:prstGeom>
            <a:noFill/>
          </p:spPr>
          <p:txBody>
            <a:bodyPr wrap="square" rtlCol="0">
              <a:noAutofit/>
            </a:bodyPr>
            <a:lstStyle/>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机构管理</a:t>
              </a:r>
              <a:endParaRPr lang="zh-CN" altLang="zh-CN" sz="2800" b="1" spc="600" dirty="0">
                <a:solidFill>
                  <a:srgbClr val="C00000"/>
                </a:solidFill>
                <a:latin typeface="+mn-lt"/>
                <a:ea typeface="+mn-ea"/>
                <a:cs typeface="+mn-ea"/>
                <a:sym typeface="+mn-lt"/>
              </a:endParaRPr>
            </a:p>
          </p:txBody>
        </p:sp>
        <p:cxnSp>
          <p:nvCxnSpPr>
            <p:cNvPr id="24" name="直接连接符 23"/>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3034189" y="2593902"/>
            <a:ext cx="7637115" cy="536245"/>
            <a:chOff x="4378815" y="1412776"/>
            <a:chExt cx="6292565" cy="536245"/>
          </a:xfrm>
        </p:grpSpPr>
        <p:sp>
          <p:nvSpPr>
            <p:cNvPr id="35" name="平行四边形 34"/>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二</a:t>
              </a:r>
              <a:endParaRPr lang="zh-CN" altLang="en-US" sz="2000" dirty="0">
                <a:cs typeface="+mn-ea"/>
                <a:sym typeface="+mn-lt"/>
              </a:endParaRPr>
            </a:p>
          </p:txBody>
        </p:sp>
        <p:sp>
          <p:nvSpPr>
            <p:cNvPr id="36" name="TextBox 22"/>
            <p:cNvSpPr txBox="1"/>
            <p:nvPr/>
          </p:nvSpPr>
          <p:spPr>
            <a:xfrm>
              <a:off x="5663952" y="1412776"/>
              <a:ext cx="5007428" cy="478155"/>
            </a:xfrm>
            <a:prstGeom prst="rect">
              <a:avLst/>
            </a:prstGeom>
            <a:noFill/>
          </p:spPr>
          <p:txBody>
            <a:bodyPr wrap="square" rtlCol="0">
              <a:spAutoFit/>
            </a:bodyPr>
            <a:lstStyle/>
            <a:p>
              <a:pPr lvl="0" algn="l">
                <a:lnSpc>
                  <a:spcPct val="90000"/>
                </a:lnSpc>
                <a:spcBef>
                  <a:spcPts val="1000"/>
                </a:spcBef>
                <a:buClrTx/>
                <a:buSzTx/>
                <a:buFontTx/>
              </a:pPr>
              <a:r>
                <a:rPr lang="zh-CN" altLang="zh-CN" sz="2800" b="1" spc="600" dirty="0">
                  <a:solidFill>
                    <a:srgbClr val="C00000"/>
                  </a:solidFill>
                  <a:latin typeface="+mn-lt"/>
                  <a:ea typeface="+mn-ea"/>
                  <a:cs typeface="+mn-ea"/>
                  <a:sym typeface="+mn-lt"/>
                </a:rPr>
                <a:t>角色岗位</a:t>
              </a:r>
              <a:endParaRPr lang="zh-CN" sz="2800" b="1" spc="600" dirty="0">
                <a:solidFill>
                  <a:schemeClr val="bg1">
                    <a:lumMod val="50000"/>
                  </a:schemeClr>
                </a:solidFill>
                <a:latin typeface="+mn-lt"/>
                <a:ea typeface="+mn-ea"/>
                <a:cs typeface="+mn-ea"/>
                <a:sym typeface="+mn-lt"/>
              </a:endParaRPr>
            </a:p>
          </p:txBody>
        </p:sp>
        <p:cxnSp>
          <p:nvCxnSpPr>
            <p:cNvPr id="37" name="直接连接符 36"/>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1044624" y="620688"/>
            <a:ext cx="576064" cy="2448272"/>
            <a:chOff x="-1044624" y="620688"/>
            <a:chExt cx="576064" cy="2448272"/>
          </a:xfrm>
        </p:grpSpPr>
        <p:sp>
          <p:nvSpPr>
            <p:cNvPr id="29" name="矩形 2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53"/>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p:cNvGrpSpPr/>
          <p:nvPr/>
        </p:nvGrpSpPr>
        <p:grpSpPr>
          <a:xfrm>
            <a:off x="3071654" y="3772462"/>
            <a:ext cx="7637115" cy="536245"/>
            <a:chOff x="4378815" y="1412776"/>
            <a:chExt cx="6292565" cy="536245"/>
          </a:xfrm>
        </p:grpSpPr>
        <p:sp>
          <p:nvSpPr>
            <p:cNvPr id="6" name="平行四边形 5"/>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zh-CN" altLang="en-US" sz="2000" dirty="0">
                  <a:cs typeface="+mn-ea"/>
                  <a:sym typeface="+mn-lt"/>
                </a:rPr>
                <a:t>三</a:t>
              </a:r>
              <a:endParaRPr lang="zh-CN" altLang="en-US" sz="2000" dirty="0">
                <a:cs typeface="+mn-ea"/>
                <a:sym typeface="+mn-lt"/>
              </a:endParaRPr>
            </a:p>
          </p:txBody>
        </p:sp>
        <p:sp>
          <p:nvSpPr>
            <p:cNvPr id="7" name="TextBox 22"/>
            <p:cNvSpPr txBox="1"/>
            <p:nvPr/>
          </p:nvSpPr>
          <p:spPr>
            <a:xfrm>
              <a:off x="5663952" y="1412776"/>
              <a:ext cx="5007428" cy="478155"/>
            </a:xfrm>
            <a:prstGeom prst="rect">
              <a:avLst/>
            </a:prstGeom>
            <a:noFill/>
          </p:spPr>
          <p:txBody>
            <a:bodyPr wrap="square" rtlCol="0">
              <a:spAutoFit/>
            </a:bodyPr>
            <a:lstStyle/>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用户管理</a:t>
              </a:r>
              <a:endParaRPr lang="zh-CN" sz="2800" b="1" spc="600" dirty="0">
                <a:solidFill>
                  <a:schemeClr val="bg1">
                    <a:lumMod val="50000"/>
                  </a:schemeClr>
                </a:solidFill>
                <a:latin typeface="+mn-lt"/>
                <a:ea typeface="+mn-ea"/>
                <a:cs typeface="+mn-ea"/>
                <a:sym typeface="+mn-lt"/>
              </a:endParaRPr>
            </a:p>
          </p:txBody>
        </p:sp>
        <p:cxnSp>
          <p:nvCxnSpPr>
            <p:cNvPr id="8" name="直接连接符 7"/>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3056414" y="4958007"/>
            <a:ext cx="7637115" cy="536245"/>
            <a:chOff x="4378815" y="1412776"/>
            <a:chExt cx="6292565" cy="536245"/>
          </a:xfrm>
        </p:grpSpPr>
        <p:sp>
          <p:nvSpPr>
            <p:cNvPr id="10" name="平行四边形 9"/>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zh-CN" altLang="en-US" sz="2000" dirty="0">
                  <a:cs typeface="+mn-ea"/>
                  <a:sym typeface="+mn-lt"/>
                </a:rPr>
                <a:t>四</a:t>
              </a:r>
              <a:endParaRPr lang="zh-CN" altLang="en-US" sz="2000" dirty="0">
                <a:cs typeface="+mn-ea"/>
                <a:sym typeface="+mn-lt"/>
              </a:endParaRPr>
            </a:p>
          </p:txBody>
        </p:sp>
        <p:sp>
          <p:nvSpPr>
            <p:cNvPr id="12" name="TextBox 22"/>
            <p:cNvSpPr txBox="1"/>
            <p:nvPr/>
          </p:nvSpPr>
          <p:spPr>
            <a:xfrm>
              <a:off x="5663952" y="1412776"/>
              <a:ext cx="5007428" cy="478155"/>
            </a:xfrm>
            <a:prstGeom prst="rect">
              <a:avLst/>
            </a:prstGeom>
            <a:noFill/>
          </p:spPr>
          <p:txBody>
            <a:bodyPr wrap="square" rtlCol="0">
              <a:spAutoFit/>
            </a:bodyPr>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岗位流程配置</a:t>
              </a:r>
              <a:endParaRPr lang="zh-CN" sz="2800" b="1" spc="600" dirty="0">
                <a:solidFill>
                  <a:schemeClr val="bg1">
                    <a:lumMod val="50000"/>
                  </a:schemeClr>
                </a:solidFill>
                <a:latin typeface="+mn-lt"/>
                <a:ea typeface="+mn-ea"/>
                <a:cs typeface="+mn-ea"/>
                <a:sym typeface="+mn-lt"/>
              </a:endParaRPr>
            </a:p>
          </p:txBody>
        </p:sp>
        <p:cxnSp>
          <p:nvCxnSpPr>
            <p:cNvPr id="13" name="直接连接符 12"/>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二</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角色岗位</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4262120"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角色管理</a:t>
            </a:r>
            <a:endParaRPr lang="zh-CN" altLang="zh-CN"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371475" y="1544320"/>
            <a:ext cx="11121390" cy="161480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zh-CN" altLang="en-US" sz="2200" dirty="0">
                <a:sym typeface="+mn-ea"/>
              </a:rPr>
              <a:t>角色是指具备相关系统使用功能权限的用户或用户组，登录用户拥有的菜单权限是通过角色来控制。角色规则由航空工业集团公司总部统一维护，各单位系统管理员仅需为本单位用户选择相关角色。</a:t>
            </a:r>
            <a:endParaRPr lang="zh-CN" altLang="en-US" sz="2200" dirty="0">
              <a:sym typeface="+mn-ea"/>
            </a:endParaRPr>
          </a:p>
        </p:txBody>
      </p:sp>
      <p:sp>
        <p:nvSpPr>
          <p:cNvPr id="100" name="文本框 99"/>
          <p:cNvSpPr txBox="1"/>
          <p:nvPr/>
        </p:nvSpPr>
        <p:spPr>
          <a:xfrm>
            <a:off x="7497445" y="3509010"/>
            <a:ext cx="4232275" cy="1014730"/>
          </a:xfrm>
          <a:prstGeom prst="rect">
            <a:avLst/>
          </a:prstGeom>
          <a:noFill/>
          <a:ln w="9525">
            <a:noFill/>
          </a:ln>
        </p:spPr>
        <p:txBody>
          <a:bodyPr wrap="square">
            <a:spAutoFit/>
          </a:bodyPr>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资金预算角色：部门经办、单位经办、查询、单位预算管理员、</a:t>
            </a:r>
            <a:endParaRPr lang="zh-CN" altLang="en-US" sz="2000" b="0" dirty="0">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custDataLst>
              <p:tags r:id="rId1"/>
            </p:custDataLst>
          </p:nvPr>
        </p:nvPicPr>
        <p:blipFill>
          <a:blip r:embed="rId2"/>
          <a:stretch>
            <a:fillRect/>
          </a:stretch>
        </p:blipFill>
        <p:spPr>
          <a:xfrm>
            <a:off x="371475" y="3341370"/>
            <a:ext cx="7025640" cy="323469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746365" y="4924425"/>
            <a:ext cx="3552825" cy="1676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二</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角色岗位</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4262120"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岗位管理</a:t>
            </a:r>
            <a:endParaRPr lang="zh-CN" altLang="zh-CN"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371475" y="1403985"/>
            <a:ext cx="11289030" cy="161480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zh-CN" altLang="en-US" sz="2200" dirty="0"/>
              <a:t>岗位是指在系统参与审批流程的某个审批节点。岗位管理用于设置各单位不同业务流程中对应的岗位信息。该功能添加的岗位信息是“用户管理”、“岗位流程配置”的基础和前提。</a:t>
            </a:r>
            <a:endParaRPr lang="zh-CN" altLang="en-US" sz="2200" dirty="0"/>
          </a:p>
        </p:txBody>
      </p:sp>
      <p:sp>
        <p:nvSpPr>
          <p:cNvPr id="100" name="文本框 99"/>
          <p:cNvSpPr txBox="1"/>
          <p:nvPr/>
        </p:nvSpPr>
        <p:spPr>
          <a:xfrm>
            <a:off x="7564755" y="2782570"/>
            <a:ext cx="4511040" cy="1938020"/>
          </a:xfrm>
          <a:prstGeom prst="rect">
            <a:avLst/>
          </a:prstGeom>
          <a:noFill/>
          <a:ln w="9525">
            <a:noFill/>
          </a:ln>
        </p:spPr>
        <p:txBody>
          <a:bodyPr wrap="square">
            <a:spAutoFit/>
          </a:bodyPr>
          <a:p>
            <a:pPr marL="342900" indent="-342900" algn="l" defTabSz="914400">
              <a:lnSpc>
                <a:spcPct val="150000"/>
              </a:lnSpc>
              <a:buClrTx/>
              <a:buSzTx/>
              <a:buFont typeface="Wingdings" panose="05000000000000000000" charset="0"/>
              <a:buChar char="Ø"/>
            </a:pPr>
            <a:r>
              <a:rPr lang="zh-CN" altLang="en-US" sz="1600" b="0" dirty="0">
                <a:latin typeface="微软雅黑" panose="020B0503020204020204" pitchFamily="34" charset="-122"/>
                <a:ea typeface="微软雅黑" panose="020B0503020204020204" pitchFamily="34" charset="-122"/>
                <a:cs typeface="+mn-ea"/>
              </a:rPr>
              <a:t>岗位设置到部门</a:t>
            </a:r>
            <a:r>
              <a:rPr lang="zh-CN" altLang="en-US" sz="1600" b="0" dirty="0">
                <a:latin typeface="微软雅黑" panose="020B0503020204020204" pitchFamily="34" charset="-122"/>
                <a:ea typeface="微软雅黑" panose="020B0503020204020204" pitchFamily="34" charset="-122"/>
                <a:cs typeface="+mn-ea"/>
              </a:rPr>
              <a:t>层级，系统管理员可以根据本单位各部门的</a:t>
            </a:r>
            <a:r>
              <a:rPr lang="zh-CN" altLang="en-US" sz="1600" b="0" dirty="0">
                <a:latin typeface="微软雅黑" panose="020B0503020204020204" pitchFamily="34" charset="-122"/>
                <a:ea typeface="微软雅黑" panose="020B0503020204020204" pitchFamily="34" charset="-122"/>
                <a:cs typeface="+mn-ea"/>
              </a:rPr>
              <a:t>流程审批节点，增加不同的岗位信息。如“业务部门经办”、“业务部门审批”、“财务部门经办”、“财务部门审批”、“公司领导审批”等</a:t>
            </a:r>
            <a:endParaRPr lang="zh-CN" altLang="en-US" sz="1600" b="0" dirty="0">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custDataLst>
              <p:tags r:id="rId1"/>
            </p:custDataLst>
          </p:nvPr>
        </p:nvPicPr>
        <p:blipFill>
          <a:blip r:embed="rId2"/>
          <a:stretch>
            <a:fillRect/>
          </a:stretch>
        </p:blipFill>
        <p:spPr>
          <a:xfrm>
            <a:off x="313690" y="3164840"/>
            <a:ext cx="7035800" cy="3232785"/>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7547610" y="4810125"/>
            <a:ext cx="4644390" cy="20707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952"/>
            <a:ext cx="3071664" cy="6859952"/>
            <a:chOff x="0" y="-1952"/>
            <a:chExt cx="3071664" cy="6859952"/>
          </a:xfrm>
        </p:grpSpPr>
        <p:sp>
          <p:nvSpPr>
            <p:cNvPr id="18" name="矩形 17"/>
            <p:cNvSpPr/>
            <p:nvPr/>
          </p:nvSpPr>
          <p:spPr>
            <a:xfrm>
              <a:off x="0" y="-1949"/>
              <a:ext cx="1260396" cy="685994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sp>
          <p:nvSpPr>
            <p:cNvPr id="19" name="等腰三角形 18"/>
            <p:cNvSpPr/>
            <p:nvPr/>
          </p:nvSpPr>
          <p:spPr>
            <a:xfrm rot="5400000">
              <a:off x="-1268207" y="2518127"/>
              <a:ext cx="6859949" cy="1819792"/>
            </a:xfrm>
            <a:prstGeom prst="triangl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cs typeface="+mn-ea"/>
                <a:sym typeface="+mn-lt"/>
              </a:endParaRPr>
            </a:p>
          </p:txBody>
        </p:sp>
      </p:grpSp>
      <p:cxnSp>
        <p:nvCxnSpPr>
          <p:cNvPr id="20" name="直接连接符 19"/>
          <p:cNvCxnSpPr/>
          <p:nvPr/>
        </p:nvCxnSpPr>
        <p:spPr>
          <a:xfrm>
            <a:off x="1260396" y="-13986"/>
            <a:ext cx="1811268" cy="344201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251872" y="3428025"/>
            <a:ext cx="1819792" cy="3429974"/>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95400" y="3075057"/>
            <a:ext cx="1362874" cy="707886"/>
          </a:xfrm>
          <a:prstGeom prst="rect">
            <a:avLst/>
          </a:prstGeom>
          <a:noFill/>
        </p:spPr>
        <p:txBody>
          <a:bodyPr wrap="none" rtlCol="0">
            <a:spAutoFit/>
          </a:bodyPr>
          <a:lstStyle/>
          <a:p>
            <a:pPr algn="ctr"/>
            <a:r>
              <a:rPr lang="zh-CN" altLang="en-US" sz="4000" b="1" dirty="0">
                <a:solidFill>
                  <a:srgbClr val="C00000"/>
                </a:solidFill>
                <a:latin typeface="+mn-lt"/>
                <a:ea typeface="+mn-ea"/>
                <a:cs typeface="+mn-ea"/>
                <a:sym typeface="+mn-lt"/>
              </a:rPr>
              <a:t>目 录</a:t>
            </a:r>
            <a:endParaRPr lang="zh-CN" altLang="en-US" sz="4000" b="1" dirty="0">
              <a:solidFill>
                <a:srgbClr val="C00000"/>
              </a:solidFill>
              <a:latin typeface="+mn-lt"/>
              <a:ea typeface="+mn-ea"/>
              <a:cs typeface="+mn-ea"/>
              <a:sym typeface="+mn-lt"/>
            </a:endParaRPr>
          </a:p>
        </p:txBody>
      </p:sp>
      <p:grpSp>
        <p:nvGrpSpPr>
          <p:cNvPr id="3" name="组合 2"/>
          <p:cNvGrpSpPr/>
          <p:nvPr/>
        </p:nvGrpSpPr>
        <p:grpSpPr>
          <a:xfrm>
            <a:off x="3034189" y="1479697"/>
            <a:ext cx="9158287" cy="536245"/>
            <a:chOff x="4378815" y="1412776"/>
            <a:chExt cx="7451377" cy="536245"/>
          </a:xfrm>
        </p:grpSpPr>
        <p:sp>
          <p:nvSpPr>
            <p:cNvPr id="16" name="平行四边形 15"/>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一</a:t>
              </a:r>
              <a:endParaRPr lang="zh-CN" altLang="en-US" sz="2000" dirty="0">
                <a:cs typeface="+mn-ea"/>
                <a:sym typeface="+mn-lt"/>
              </a:endParaRPr>
            </a:p>
          </p:txBody>
        </p:sp>
        <p:sp>
          <p:nvSpPr>
            <p:cNvPr id="23" name="TextBox 22"/>
            <p:cNvSpPr txBox="1"/>
            <p:nvPr/>
          </p:nvSpPr>
          <p:spPr>
            <a:xfrm>
              <a:off x="5663951" y="1412776"/>
              <a:ext cx="6166241" cy="478155"/>
            </a:xfrm>
            <a:prstGeom prst="rect">
              <a:avLst/>
            </a:prstGeom>
            <a:noFill/>
          </p:spPr>
          <p:txBody>
            <a:bodyPr wrap="square" rtlCol="0">
              <a:noAutofit/>
            </a:bodyPr>
            <a:lstStyle/>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机构管理</a:t>
              </a:r>
              <a:endParaRPr lang="zh-CN" altLang="zh-CN" sz="2800" b="1" spc="600" dirty="0">
                <a:solidFill>
                  <a:srgbClr val="C00000"/>
                </a:solidFill>
                <a:latin typeface="+mn-lt"/>
                <a:ea typeface="+mn-ea"/>
                <a:cs typeface="+mn-ea"/>
                <a:sym typeface="+mn-lt"/>
              </a:endParaRPr>
            </a:p>
          </p:txBody>
        </p:sp>
        <p:cxnSp>
          <p:nvCxnSpPr>
            <p:cNvPr id="24" name="直接连接符 23"/>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3034189" y="2593902"/>
            <a:ext cx="7637115" cy="536245"/>
            <a:chOff x="4378815" y="1412776"/>
            <a:chExt cx="6292565" cy="536245"/>
          </a:xfrm>
        </p:grpSpPr>
        <p:sp>
          <p:nvSpPr>
            <p:cNvPr id="35" name="平行四边形 34"/>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二</a:t>
              </a:r>
              <a:endParaRPr lang="zh-CN" altLang="en-US" sz="2000" dirty="0">
                <a:cs typeface="+mn-ea"/>
                <a:sym typeface="+mn-lt"/>
              </a:endParaRPr>
            </a:p>
          </p:txBody>
        </p:sp>
        <p:sp>
          <p:nvSpPr>
            <p:cNvPr id="36" name="TextBox 22"/>
            <p:cNvSpPr txBox="1"/>
            <p:nvPr/>
          </p:nvSpPr>
          <p:spPr>
            <a:xfrm>
              <a:off x="5663952" y="1412776"/>
              <a:ext cx="5007428" cy="478155"/>
            </a:xfrm>
            <a:prstGeom prst="rect">
              <a:avLst/>
            </a:prstGeom>
            <a:noFill/>
          </p:spPr>
          <p:txBody>
            <a:bodyPr wrap="square" rtlCol="0">
              <a:spAutoFit/>
            </a:bodyPr>
            <a:lstStyle/>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角色岗位</a:t>
              </a:r>
              <a:endParaRPr lang="zh-CN" sz="2800" b="1" spc="600" dirty="0">
                <a:solidFill>
                  <a:schemeClr val="bg1">
                    <a:lumMod val="50000"/>
                  </a:schemeClr>
                </a:solidFill>
                <a:latin typeface="+mn-lt"/>
                <a:ea typeface="+mn-ea"/>
                <a:cs typeface="+mn-ea"/>
                <a:sym typeface="+mn-lt"/>
              </a:endParaRPr>
            </a:p>
          </p:txBody>
        </p:sp>
        <p:cxnSp>
          <p:nvCxnSpPr>
            <p:cNvPr id="37" name="直接连接符 36"/>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1044624" y="620688"/>
            <a:ext cx="576064" cy="2448272"/>
            <a:chOff x="-1044624" y="620688"/>
            <a:chExt cx="576064" cy="2448272"/>
          </a:xfrm>
        </p:grpSpPr>
        <p:sp>
          <p:nvSpPr>
            <p:cNvPr id="29" name="矩形 2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53"/>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p:cNvGrpSpPr/>
          <p:nvPr/>
        </p:nvGrpSpPr>
        <p:grpSpPr>
          <a:xfrm>
            <a:off x="3071654" y="3772462"/>
            <a:ext cx="7637115" cy="536245"/>
            <a:chOff x="4378815" y="1412776"/>
            <a:chExt cx="6292565" cy="536245"/>
          </a:xfrm>
        </p:grpSpPr>
        <p:sp>
          <p:nvSpPr>
            <p:cNvPr id="6" name="平行四边形 5"/>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zh-CN" altLang="en-US" sz="2000" dirty="0">
                  <a:cs typeface="+mn-ea"/>
                  <a:sym typeface="+mn-lt"/>
                </a:rPr>
                <a:t>三</a:t>
              </a:r>
              <a:endParaRPr lang="zh-CN" altLang="en-US" sz="2000" dirty="0">
                <a:cs typeface="+mn-ea"/>
                <a:sym typeface="+mn-lt"/>
              </a:endParaRPr>
            </a:p>
          </p:txBody>
        </p:sp>
        <p:sp>
          <p:nvSpPr>
            <p:cNvPr id="7" name="TextBox 22"/>
            <p:cNvSpPr txBox="1"/>
            <p:nvPr/>
          </p:nvSpPr>
          <p:spPr>
            <a:xfrm>
              <a:off x="5663952" y="1412776"/>
              <a:ext cx="5007428" cy="478155"/>
            </a:xfrm>
            <a:prstGeom prst="rect">
              <a:avLst/>
            </a:prstGeom>
            <a:noFill/>
          </p:spPr>
          <p:txBody>
            <a:bodyPr wrap="square" rtlCol="0">
              <a:spAutoFit/>
            </a:bodyPr>
            <a:lstStyle/>
            <a:p>
              <a:pPr lvl="0" algn="l">
                <a:lnSpc>
                  <a:spcPct val="90000"/>
                </a:lnSpc>
                <a:spcBef>
                  <a:spcPts val="1000"/>
                </a:spcBef>
                <a:buClrTx/>
                <a:buSzTx/>
                <a:buFontTx/>
              </a:pPr>
              <a:r>
                <a:rPr lang="zh-CN" altLang="zh-CN" sz="2800" b="1" spc="600" dirty="0">
                  <a:solidFill>
                    <a:srgbClr val="C00000"/>
                  </a:solidFill>
                  <a:latin typeface="+mn-lt"/>
                  <a:ea typeface="+mn-ea"/>
                  <a:cs typeface="+mn-ea"/>
                  <a:sym typeface="+mn-lt"/>
                </a:rPr>
                <a:t>用户</a:t>
              </a:r>
              <a:r>
                <a:rPr lang="zh-CN" altLang="zh-CN" sz="2800" b="1" spc="600" dirty="0">
                  <a:solidFill>
                    <a:srgbClr val="C00000"/>
                  </a:solidFill>
                  <a:latin typeface="+mn-lt"/>
                  <a:ea typeface="+mn-ea"/>
                  <a:cs typeface="+mn-ea"/>
                  <a:sym typeface="+mn-lt"/>
                </a:rPr>
                <a:t>管理</a:t>
              </a:r>
              <a:endParaRPr lang="zh-CN" altLang="zh-CN" sz="2800" b="1" spc="600" dirty="0">
                <a:solidFill>
                  <a:srgbClr val="C00000"/>
                </a:solidFill>
                <a:latin typeface="+mn-lt"/>
                <a:ea typeface="+mn-ea"/>
                <a:cs typeface="+mn-ea"/>
                <a:sym typeface="+mn-lt"/>
              </a:endParaRPr>
            </a:p>
          </p:txBody>
        </p:sp>
        <p:cxnSp>
          <p:nvCxnSpPr>
            <p:cNvPr id="8" name="直接连接符 7"/>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3056414" y="4958007"/>
            <a:ext cx="7637115" cy="536245"/>
            <a:chOff x="4378815" y="1412776"/>
            <a:chExt cx="6292565" cy="536245"/>
          </a:xfrm>
        </p:grpSpPr>
        <p:sp>
          <p:nvSpPr>
            <p:cNvPr id="10" name="平行四边形 9"/>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zh-CN" altLang="en-US" sz="2000" dirty="0">
                  <a:cs typeface="+mn-ea"/>
                  <a:sym typeface="+mn-lt"/>
                </a:rPr>
                <a:t>四</a:t>
              </a:r>
              <a:endParaRPr lang="zh-CN" altLang="en-US" sz="2000" dirty="0">
                <a:cs typeface="+mn-ea"/>
                <a:sym typeface="+mn-lt"/>
              </a:endParaRPr>
            </a:p>
          </p:txBody>
        </p:sp>
        <p:sp>
          <p:nvSpPr>
            <p:cNvPr id="12" name="TextBox 22"/>
            <p:cNvSpPr txBox="1"/>
            <p:nvPr/>
          </p:nvSpPr>
          <p:spPr>
            <a:xfrm>
              <a:off x="5663952" y="1412776"/>
              <a:ext cx="5007428" cy="478155"/>
            </a:xfrm>
            <a:prstGeom prst="rect">
              <a:avLst/>
            </a:prstGeom>
            <a:noFill/>
          </p:spPr>
          <p:txBody>
            <a:bodyPr wrap="square" rtlCol="0">
              <a:spAutoFit/>
            </a:bodyPr>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岗位流程配置</a:t>
              </a:r>
              <a:endParaRPr lang="zh-CN" sz="2800" b="1" spc="600" dirty="0">
                <a:solidFill>
                  <a:schemeClr val="bg1">
                    <a:lumMod val="50000"/>
                  </a:schemeClr>
                </a:solidFill>
                <a:latin typeface="+mn-lt"/>
                <a:ea typeface="+mn-ea"/>
                <a:cs typeface="+mn-ea"/>
                <a:sym typeface="+mn-lt"/>
              </a:endParaRPr>
            </a:p>
          </p:txBody>
        </p:sp>
        <p:cxnSp>
          <p:nvCxnSpPr>
            <p:cNvPr id="13" name="直接连接符 12"/>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三</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用户管理</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4262120"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用户管理</a:t>
            </a:r>
            <a:endParaRPr lang="zh-CN" altLang="zh-CN"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611084" y="1544538"/>
            <a:ext cx="10793834" cy="110680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zh-CN" altLang="en-US" sz="2200" dirty="0"/>
              <a:t>用户是指系统操作人员。用户管理是用于设置各单位相关操作用户的角色、岗位和数据权限。</a:t>
            </a:r>
            <a:endParaRPr lang="zh-CN" altLang="en-US" sz="2200" dirty="0"/>
          </a:p>
        </p:txBody>
      </p:sp>
      <p:sp>
        <p:nvSpPr>
          <p:cNvPr id="100" name="文本框 99"/>
          <p:cNvSpPr txBox="1"/>
          <p:nvPr/>
        </p:nvSpPr>
        <p:spPr>
          <a:xfrm>
            <a:off x="7508875" y="3370580"/>
            <a:ext cx="3907790" cy="1938020"/>
          </a:xfrm>
          <a:prstGeom prst="rect">
            <a:avLst/>
          </a:prstGeom>
          <a:noFill/>
          <a:ln w="9525">
            <a:noFill/>
          </a:ln>
        </p:spPr>
        <p:txBody>
          <a:bodyPr wrap="square">
            <a:spAutoFit/>
          </a:bodyPr>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新增、修改、删除用户信息</a:t>
            </a:r>
            <a:endParaRPr lang="zh-CN" altLang="en-US" sz="2000" b="0" dirty="0">
              <a:latin typeface="微软雅黑" panose="020B0503020204020204" pitchFamily="34" charset="-122"/>
              <a:ea typeface="微软雅黑" panose="020B0503020204020204" pitchFamily="34" charset="-122"/>
              <a:cs typeface="+mn-ea"/>
            </a:endParaRPr>
          </a:p>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重置密码</a:t>
            </a:r>
            <a:endParaRPr lang="zh-CN" altLang="en-US" sz="2000" b="0" dirty="0">
              <a:latin typeface="微软雅黑" panose="020B0503020204020204" pitchFamily="34" charset="-122"/>
              <a:ea typeface="微软雅黑" panose="020B0503020204020204" pitchFamily="34" charset="-122"/>
              <a:cs typeface="+mn-ea"/>
            </a:endParaRPr>
          </a:p>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调整用户</a:t>
            </a:r>
            <a:r>
              <a:rPr lang="zh-CN" altLang="en-US" sz="2000" b="0" dirty="0">
                <a:latin typeface="微软雅黑" panose="020B0503020204020204" pitchFamily="34" charset="-122"/>
                <a:ea typeface="微软雅黑" panose="020B0503020204020204" pitchFamily="34" charset="-122"/>
                <a:cs typeface="+mn-ea"/>
              </a:rPr>
              <a:t>所属部门</a:t>
            </a:r>
            <a:endParaRPr lang="zh-CN" altLang="en-US" sz="2000" b="0" dirty="0">
              <a:latin typeface="微软雅黑" panose="020B0503020204020204" pitchFamily="34" charset="-122"/>
              <a:ea typeface="微软雅黑" panose="020B0503020204020204" pitchFamily="34" charset="-122"/>
              <a:cs typeface="+mn-ea"/>
            </a:endParaRPr>
          </a:p>
          <a:p>
            <a:pPr marL="0" indent="0" algn="l" defTabSz="914400">
              <a:lnSpc>
                <a:spcPct val="150000"/>
              </a:lnSpc>
              <a:buClrTx/>
              <a:buSzTx/>
              <a:buFont typeface="Wingdings" panose="05000000000000000000" charset="0"/>
              <a:buNone/>
            </a:pPr>
            <a:endParaRPr lang="zh-CN" altLang="en-US" sz="2000" b="0" dirty="0">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custDataLst>
              <p:tags r:id="rId1"/>
            </p:custDataLst>
          </p:nvPr>
        </p:nvPicPr>
        <p:blipFill>
          <a:blip r:embed="rId2"/>
          <a:stretch>
            <a:fillRect/>
          </a:stretch>
        </p:blipFill>
        <p:spPr>
          <a:xfrm>
            <a:off x="371475" y="3140710"/>
            <a:ext cx="6995160" cy="321373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三</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用户管理</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4262120"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用户管理</a:t>
            </a:r>
            <a:r>
              <a:rPr lang="en-US" altLang="zh-CN" sz="2800" b="1" dirty="0">
                <a:latin typeface="微软雅黑" panose="020B0503020204020204" pitchFamily="34" charset="-122"/>
                <a:ea typeface="微软雅黑" panose="020B0503020204020204" pitchFamily="34" charset="-122"/>
                <a:cs typeface="+mn-ea"/>
                <a:sym typeface="+mn-lt"/>
              </a:rPr>
              <a:t>-</a:t>
            </a:r>
            <a:r>
              <a:rPr lang="zh-CN" altLang="en-US" sz="2800" b="1" dirty="0">
                <a:latin typeface="微软雅黑" panose="020B0503020204020204" pitchFamily="34" charset="-122"/>
                <a:ea typeface="微软雅黑" panose="020B0503020204020204" pitchFamily="34" charset="-122"/>
                <a:cs typeface="+mn-ea"/>
                <a:sym typeface="+mn-lt"/>
              </a:rPr>
              <a:t>用户信息</a:t>
            </a:r>
            <a:endParaRPr lang="zh-CN" altLang="en-US"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371475" y="1527810"/>
            <a:ext cx="11121390" cy="212280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en-US" altLang="zh-CN" sz="2200" dirty="0"/>
              <a:t>“</a:t>
            </a:r>
            <a:r>
              <a:rPr lang="zh-CN" altLang="en-US" sz="2200" dirty="0"/>
              <a:t>基础信息</a:t>
            </a:r>
            <a:r>
              <a:rPr lang="en-US" altLang="zh-CN" sz="2200" dirty="0"/>
              <a:t>”</a:t>
            </a:r>
            <a:r>
              <a:rPr lang="zh-CN" altLang="en-US" sz="2200" dirty="0"/>
              <a:t>页面包括用户名（系统登陆账号）、姓名、员工编号、状态、邮箱、手机号等信息。在右侧新增管辖部门的列表中，勾选该用户需管辖的部门，在左侧已管辖部门中会显示勾选的信息。如果该用户同时管辖多个</a:t>
            </a:r>
            <a:r>
              <a:rPr lang="zh-CN" altLang="en-US" sz="2200" dirty="0"/>
              <a:t>单位或部门，可通过【是否默认】按钮进行切换。默认部门，用户登陆时显示该部门对应的功能</a:t>
            </a:r>
            <a:r>
              <a:rPr lang="zh-CN" altLang="en-US" sz="2200" dirty="0"/>
              <a:t>菜单。</a:t>
            </a:r>
            <a:endParaRPr lang="zh-CN" altLang="en-US" sz="2200" dirty="0"/>
          </a:p>
        </p:txBody>
      </p:sp>
      <p:pic>
        <p:nvPicPr>
          <p:cNvPr id="3" name="图片 2"/>
          <p:cNvPicPr>
            <a:picLocks noChangeAspect="1"/>
          </p:cNvPicPr>
          <p:nvPr>
            <p:custDataLst>
              <p:tags r:id="rId1"/>
            </p:custDataLst>
          </p:nvPr>
        </p:nvPicPr>
        <p:blipFill>
          <a:blip r:embed="rId2"/>
          <a:stretch>
            <a:fillRect/>
          </a:stretch>
        </p:blipFill>
        <p:spPr>
          <a:xfrm>
            <a:off x="2860675" y="3835400"/>
            <a:ext cx="6470650" cy="2913380"/>
          </a:xfrm>
          <a:prstGeom prst="rect">
            <a:avLst/>
          </a:prstGeom>
        </p:spPr>
      </p:pic>
      <p:sp>
        <p:nvSpPr>
          <p:cNvPr id="2" name="文本框 1"/>
          <p:cNvSpPr txBox="1"/>
          <p:nvPr/>
        </p:nvSpPr>
        <p:spPr>
          <a:xfrm>
            <a:off x="10005695" y="4617085"/>
            <a:ext cx="4064000" cy="368300"/>
          </a:xfrm>
          <a:prstGeom prst="rect">
            <a:avLst/>
          </a:prstGeom>
          <a:noFill/>
        </p:spPr>
        <p:txBody>
          <a:bodyPr wrap="square" rtlCol="0">
            <a:spAutoFit/>
          </a:bodyPr>
          <a:p>
            <a:endParaRPr lang="zh-CN" alt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三</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用户管理</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4262120"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用户管理</a:t>
            </a:r>
            <a:r>
              <a:rPr lang="en-US" altLang="zh-CN" sz="2800" b="1" dirty="0">
                <a:latin typeface="微软雅黑" panose="020B0503020204020204" pitchFamily="34" charset="-122"/>
                <a:ea typeface="微软雅黑" panose="020B0503020204020204" pitchFamily="34" charset="-122"/>
                <a:cs typeface="+mn-ea"/>
                <a:sym typeface="+mn-lt"/>
              </a:rPr>
              <a:t>-</a:t>
            </a:r>
            <a:r>
              <a:rPr lang="zh-CN" altLang="en-US" sz="2800" b="1" dirty="0">
                <a:latin typeface="微软雅黑" panose="020B0503020204020204" pitchFamily="34" charset="-122"/>
                <a:ea typeface="微软雅黑" panose="020B0503020204020204" pitchFamily="34" charset="-122"/>
                <a:cs typeface="+mn-ea"/>
                <a:sym typeface="+mn-lt"/>
              </a:rPr>
              <a:t>用户信息</a:t>
            </a:r>
            <a:endParaRPr lang="zh-CN" altLang="en-US"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 name="文本框 2"/>
          <p:cNvSpPr txBox="1"/>
          <p:nvPr/>
        </p:nvSpPr>
        <p:spPr>
          <a:xfrm>
            <a:off x="7142480" y="4646295"/>
            <a:ext cx="3907790" cy="1476375"/>
          </a:xfrm>
          <a:prstGeom prst="rect">
            <a:avLst/>
          </a:prstGeom>
          <a:noFill/>
          <a:ln w="9525">
            <a:noFill/>
          </a:ln>
        </p:spPr>
        <p:txBody>
          <a:bodyPr wrap="square">
            <a:spAutoFit/>
          </a:bodyPr>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配置角色</a:t>
            </a:r>
            <a:endParaRPr lang="zh-CN" altLang="en-US" sz="2000" b="0" dirty="0">
              <a:latin typeface="微软雅黑" panose="020B0503020204020204" pitchFamily="34" charset="-122"/>
              <a:ea typeface="微软雅黑" panose="020B0503020204020204" pitchFamily="34" charset="-122"/>
              <a:cs typeface="+mn-ea"/>
            </a:endParaRPr>
          </a:p>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配置岗位</a:t>
            </a:r>
            <a:endParaRPr lang="zh-CN" altLang="en-US" sz="2000" b="0" dirty="0">
              <a:latin typeface="微软雅黑" panose="020B0503020204020204" pitchFamily="34" charset="-122"/>
              <a:ea typeface="微软雅黑" panose="020B0503020204020204" pitchFamily="34" charset="-122"/>
              <a:cs typeface="+mn-ea"/>
            </a:endParaRPr>
          </a:p>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配置数据权限</a:t>
            </a:r>
            <a:endParaRPr lang="zh-CN" altLang="en-US" sz="2000" b="0" dirty="0">
              <a:latin typeface="微软雅黑" panose="020B0503020204020204" pitchFamily="34" charset="-122"/>
              <a:ea typeface="微软雅黑" panose="020B0503020204020204" pitchFamily="34" charset="-122"/>
              <a:cs typeface="+mn-ea"/>
            </a:endParaRPr>
          </a:p>
        </p:txBody>
      </p:sp>
      <p:pic>
        <p:nvPicPr>
          <p:cNvPr id="2" name="图片 1"/>
          <p:cNvPicPr>
            <a:picLocks noChangeAspect="1"/>
          </p:cNvPicPr>
          <p:nvPr>
            <p:custDataLst>
              <p:tags r:id="rId1"/>
            </p:custDataLst>
          </p:nvPr>
        </p:nvPicPr>
        <p:blipFill>
          <a:blip r:embed="rId2"/>
          <a:stretch>
            <a:fillRect/>
          </a:stretch>
        </p:blipFill>
        <p:spPr>
          <a:xfrm>
            <a:off x="48895" y="1774825"/>
            <a:ext cx="5412740" cy="1957070"/>
          </a:xfrm>
          <a:prstGeom prst="rect">
            <a:avLst/>
          </a:prstGeom>
        </p:spPr>
      </p:pic>
      <p:pic>
        <p:nvPicPr>
          <p:cNvPr id="4" name="图片 3"/>
          <p:cNvPicPr>
            <a:picLocks noChangeAspect="1"/>
          </p:cNvPicPr>
          <p:nvPr>
            <p:custDataLst>
              <p:tags r:id="rId3"/>
            </p:custDataLst>
          </p:nvPr>
        </p:nvPicPr>
        <p:blipFill>
          <a:blip r:embed="rId4"/>
          <a:stretch>
            <a:fillRect/>
          </a:stretch>
        </p:blipFill>
        <p:spPr>
          <a:xfrm>
            <a:off x="6066155" y="1772920"/>
            <a:ext cx="5842635" cy="2013585"/>
          </a:xfrm>
          <a:prstGeom prst="rect">
            <a:avLst/>
          </a:prstGeom>
        </p:spPr>
      </p:pic>
      <p:pic>
        <p:nvPicPr>
          <p:cNvPr id="5" name="图片 4"/>
          <p:cNvPicPr>
            <a:picLocks noChangeAspect="1"/>
          </p:cNvPicPr>
          <p:nvPr>
            <p:custDataLst>
              <p:tags r:id="rId5"/>
            </p:custDataLst>
          </p:nvPr>
        </p:nvPicPr>
        <p:blipFill>
          <a:blip r:embed="rId6"/>
          <a:stretch>
            <a:fillRect/>
          </a:stretch>
        </p:blipFill>
        <p:spPr>
          <a:xfrm>
            <a:off x="48895" y="4095115"/>
            <a:ext cx="5430520" cy="249999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1952"/>
            <a:ext cx="3071664" cy="6859952"/>
            <a:chOff x="0" y="-1952"/>
            <a:chExt cx="3071664" cy="6859952"/>
          </a:xfrm>
        </p:grpSpPr>
        <p:sp>
          <p:nvSpPr>
            <p:cNvPr id="18" name="矩形 17"/>
            <p:cNvSpPr/>
            <p:nvPr/>
          </p:nvSpPr>
          <p:spPr>
            <a:xfrm>
              <a:off x="0" y="-1949"/>
              <a:ext cx="1260396" cy="685994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sym typeface="+mn-lt"/>
              </a:endParaRPr>
            </a:p>
          </p:txBody>
        </p:sp>
        <p:sp>
          <p:nvSpPr>
            <p:cNvPr id="19" name="等腰三角形 18"/>
            <p:cNvSpPr/>
            <p:nvPr/>
          </p:nvSpPr>
          <p:spPr>
            <a:xfrm rot="5400000">
              <a:off x="-1268207" y="2518127"/>
              <a:ext cx="6859949" cy="1819792"/>
            </a:xfrm>
            <a:prstGeom prst="triangle">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cs typeface="+mn-ea"/>
                <a:sym typeface="+mn-lt"/>
              </a:endParaRPr>
            </a:p>
          </p:txBody>
        </p:sp>
      </p:grpSp>
      <p:cxnSp>
        <p:nvCxnSpPr>
          <p:cNvPr id="20" name="直接连接符 19"/>
          <p:cNvCxnSpPr/>
          <p:nvPr/>
        </p:nvCxnSpPr>
        <p:spPr>
          <a:xfrm>
            <a:off x="1260396" y="-13986"/>
            <a:ext cx="1811268" cy="344201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251872" y="3428025"/>
            <a:ext cx="1819792" cy="3429974"/>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695400" y="3075057"/>
            <a:ext cx="1362874" cy="707886"/>
          </a:xfrm>
          <a:prstGeom prst="rect">
            <a:avLst/>
          </a:prstGeom>
          <a:noFill/>
        </p:spPr>
        <p:txBody>
          <a:bodyPr wrap="none" rtlCol="0">
            <a:spAutoFit/>
          </a:bodyPr>
          <a:lstStyle/>
          <a:p>
            <a:pPr algn="ctr"/>
            <a:r>
              <a:rPr lang="zh-CN" altLang="en-US" sz="4000" b="1" dirty="0">
                <a:solidFill>
                  <a:srgbClr val="C00000"/>
                </a:solidFill>
                <a:latin typeface="+mn-lt"/>
                <a:ea typeface="+mn-ea"/>
                <a:cs typeface="+mn-ea"/>
                <a:sym typeface="+mn-lt"/>
              </a:rPr>
              <a:t>目 录</a:t>
            </a:r>
            <a:endParaRPr lang="zh-CN" altLang="en-US" sz="4000" b="1" dirty="0">
              <a:solidFill>
                <a:srgbClr val="C00000"/>
              </a:solidFill>
              <a:latin typeface="+mn-lt"/>
              <a:ea typeface="+mn-ea"/>
              <a:cs typeface="+mn-ea"/>
              <a:sym typeface="+mn-lt"/>
            </a:endParaRPr>
          </a:p>
        </p:txBody>
      </p:sp>
      <p:grpSp>
        <p:nvGrpSpPr>
          <p:cNvPr id="3" name="组合 2"/>
          <p:cNvGrpSpPr/>
          <p:nvPr/>
        </p:nvGrpSpPr>
        <p:grpSpPr>
          <a:xfrm>
            <a:off x="3034189" y="1479697"/>
            <a:ext cx="9158287" cy="536245"/>
            <a:chOff x="4378815" y="1412776"/>
            <a:chExt cx="7451377" cy="536245"/>
          </a:xfrm>
        </p:grpSpPr>
        <p:sp>
          <p:nvSpPr>
            <p:cNvPr id="16" name="平行四边形 15"/>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一</a:t>
              </a:r>
              <a:endParaRPr lang="zh-CN" altLang="en-US" sz="2000" dirty="0">
                <a:cs typeface="+mn-ea"/>
                <a:sym typeface="+mn-lt"/>
              </a:endParaRPr>
            </a:p>
          </p:txBody>
        </p:sp>
        <p:sp>
          <p:nvSpPr>
            <p:cNvPr id="23" name="TextBox 22"/>
            <p:cNvSpPr txBox="1"/>
            <p:nvPr/>
          </p:nvSpPr>
          <p:spPr>
            <a:xfrm>
              <a:off x="5663951" y="1412776"/>
              <a:ext cx="6166241" cy="478155"/>
            </a:xfrm>
            <a:prstGeom prst="rect">
              <a:avLst/>
            </a:prstGeom>
            <a:noFill/>
          </p:spPr>
          <p:txBody>
            <a:bodyPr wrap="square" rtlCol="0">
              <a:noAutofit/>
            </a:bodyPr>
            <a:lstStyle/>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机构管理</a:t>
              </a:r>
              <a:endParaRPr lang="zh-CN" altLang="zh-CN" sz="2800" b="1" spc="600" dirty="0">
                <a:solidFill>
                  <a:srgbClr val="C00000"/>
                </a:solidFill>
                <a:latin typeface="+mn-lt"/>
                <a:ea typeface="+mn-ea"/>
                <a:cs typeface="+mn-ea"/>
                <a:sym typeface="+mn-lt"/>
              </a:endParaRPr>
            </a:p>
          </p:txBody>
        </p:sp>
        <p:cxnSp>
          <p:nvCxnSpPr>
            <p:cNvPr id="24" name="直接连接符 23"/>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3034189" y="2593902"/>
            <a:ext cx="7637115" cy="536245"/>
            <a:chOff x="4378815" y="1412776"/>
            <a:chExt cx="6292565" cy="536245"/>
          </a:xfrm>
        </p:grpSpPr>
        <p:sp>
          <p:nvSpPr>
            <p:cNvPr id="35" name="平行四边形 34"/>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二</a:t>
              </a:r>
              <a:endParaRPr lang="zh-CN" altLang="en-US" sz="2000" dirty="0">
                <a:cs typeface="+mn-ea"/>
                <a:sym typeface="+mn-lt"/>
              </a:endParaRPr>
            </a:p>
          </p:txBody>
        </p:sp>
        <p:sp>
          <p:nvSpPr>
            <p:cNvPr id="36" name="TextBox 22"/>
            <p:cNvSpPr txBox="1"/>
            <p:nvPr/>
          </p:nvSpPr>
          <p:spPr>
            <a:xfrm>
              <a:off x="5663952" y="1412776"/>
              <a:ext cx="5007428" cy="478155"/>
            </a:xfrm>
            <a:prstGeom prst="rect">
              <a:avLst/>
            </a:prstGeom>
            <a:noFill/>
          </p:spPr>
          <p:txBody>
            <a:bodyPr wrap="square" rtlCol="0">
              <a:spAutoFit/>
            </a:bodyPr>
            <a:lstStyle/>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角色岗位</a:t>
              </a:r>
              <a:endParaRPr lang="zh-CN" sz="2800" b="1" spc="600" dirty="0">
                <a:solidFill>
                  <a:schemeClr val="bg1">
                    <a:lumMod val="50000"/>
                  </a:schemeClr>
                </a:solidFill>
                <a:latin typeface="+mn-lt"/>
                <a:ea typeface="+mn-ea"/>
                <a:cs typeface="+mn-ea"/>
                <a:sym typeface="+mn-lt"/>
              </a:endParaRPr>
            </a:p>
          </p:txBody>
        </p:sp>
        <p:cxnSp>
          <p:nvCxnSpPr>
            <p:cNvPr id="37" name="直接连接符 36"/>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4" name="组合 3"/>
          <p:cNvGrpSpPr/>
          <p:nvPr/>
        </p:nvGrpSpPr>
        <p:grpSpPr>
          <a:xfrm>
            <a:off x="-1044624" y="620688"/>
            <a:ext cx="576064" cy="2448272"/>
            <a:chOff x="-1044624" y="620688"/>
            <a:chExt cx="576064" cy="2448272"/>
          </a:xfrm>
        </p:grpSpPr>
        <p:sp>
          <p:nvSpPr>
            <p:cNvPr id="29" name="矩形 2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0" name="矩形 2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1" name="矩形 3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4" name="矩形 53"/>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 name="组合 4"/>
          <p:cNvGrpSpPr/>
          <p:nvPr/>
        </p:nvGrpSpPr>
        <p:grpSpPr>
          <a:xfrm>
            <a:off x="3071654" y="3772462"/>
            <a:ext cx="7637115" cy="536245"/>
            <a:chOff x="4378815" y="1412776"/>
            <a:chExt cx="6292565" cy="536245"/>
          </a:xfrm>
        </p:grpSpPr>
        <p:sp>
          <p:nvSpPr>
            <p:cNvPr id="6" name="平行四边形 5"/>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zh-CN" altLang="en-US" sz="2000" dirty="0">
                  <a:cs typeface="+mn-ea"/>
                  <a:sym typeface="+mn-lt"/>
                </a:rPr>
                <a:t>三</a:t>
              </a:r>
              <a:endParaRPr lang="zh-CN" altLang="en-US" sz="2000" dirty="0">
                <a:cs typeface="+mn-ea"/>
                <a:sym typeface="+mn-lt"/>
              </a:endParaRPr>
            </a:p>
          </p:txBody>
        </p:sp>
        <p:sp>
          <p:nvSpPr>
            <p:cNvPr id="7" name="TextBox 22"/>
            <p:cNvSpPr txBox="1"/>
            <p:nvPr/>
          </p:nvSpPr>
          <p:spPr>
            <a:xfrm>
              <a:off x="5663952" y="1412776"/>
              <a:ext cx="5007428" cy="478155"/>
            </a:xfrm>
            <a:prstGeom prst="rect">
              <a:avLst/>
            </a:prstGeom>
            <a:noFill/>
          </p:spPr>
          <p:txBody>
            <a:bodyPr wrap="square" rtlCol="0">
              <a:spAutoFit/>
            </a:bodyPr>
            <a:lstStyle/>
            <a:p>
              <a:pPr lvl="0" algn="l">
                <a:lnSpc>
                  <a:spcPct val="90000"/>
                </a:lnSpc>
                <a:spcBef>
                  <a:spcPts val="1000"/>
                </a:spcBef>
                <a:buClrTx/>
                <a:buSzTx/>
                <a:buFontTx/>
              </a:pPr>
              <a:r>
                <a:rPr lang="zh-CN" sz="2800" b="1" spc="600" dirty="0">
                  <a:solidFill>
                    <a:schemeClr val="bg1">
                      <a:lumMod val="50000"/>
                    </a:schemeClr>
                  </a:solidFill>
                  <a:latin typeface="+mn-lt"/>
                  <a:ea typeface="+mn-ea"/>
                  <a:cs typeface="+mn-ea"/>
                  <a:sym typeface="+mn-lt"/>
                </a:rPr>
                <a:t>用户管理</a:t>
              </a:r>
              <a:endParaRPr lang="zh-CN" altLang="zh-CN" sz="2800" b="1" spc="600" dirty="0">
                <a:solidFill>
                  <a:srgbClr val="C00000"/>
                </a:solidFill>
                <a:latin typeface="+mn-lt"/>
                <a:ea typeface="+mn-ea"/>
                <a:cs typeface="+mn-ea"/>
                <a:sym typeface="+mn-lt"/>
              </a:endParaRPr>
            </a:p>
          </p:txBody>
        </p:sp>
        <p:cxnSp>
          <p:nvCxnSpPr>
            <p:cNvPr id="8" name="直接连接符 7"/>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3056414" y="4958007"/>
            <a:ext cx="7637115" cy="536245"/>
            <a:chOff x="4378815" y="1412776"/>
            <a:chExt cx="6292565" cy="536245"/>
          </a:xfrm>
        </p:grpSpPr>
        <p:sp>
          <p:nvSpPr>
            <p:cNvPr id="10" name="平行四边形 9"/>
            <p:cNvSpPr/>
            <p:nvPr/>
          </p:nvSpPr>
          <p:spPr>
            <a:xfrm>
              <a:off x="4378815" y="1503725"/>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zh-CN" altLang="en-US" sz="2000" dirty="0">
                  <a:cs typeface="+mn-ea"/>
                  <a:sym typeface="+mn-lt"/>
                </a:rPr>
                <a:t>四</a:t>
              </a:r>
              <a:endParaRPr lang="zh-CN" altLang="en-US" sz="2000" dirty="0">
                <a:cs typeface="+mn-ea"/>
                <a:sym typeface="+mn-lt"/>
              </a:endParaRPr>
            </a:p>
          </p:txBody>
        </p:sp>
        <p:sp>
          <p:nvSpPr>
            <p:cNvPr id="12" name="TextBox 22"/>
            <p:cNvSpPr txBox="1"/>
            <p:nvPr/>
          </p:nvSpPr>
          <p:spPr>
            <a:xfrm>
              <a:off x="5663952" y="1412776"/>
              <a:ext cx="5007428" cy="478155"/>
            </a:xfrm>
            <a:prstGeom prst="rect">
              <a:avLst/>
            </a:prstGeom>
            <a:noFill/>
          </p:spPr>
          <p:txBody>
            <a:bodyPr wrap="square" rtlCol="0">
              <a:spAutoFit/>
            </a:bodyPr>
            <a:p>
              <a:pPr lvl="0" algn="l">
                <a:lnSpc>
                  <a:spcPct val="90000"/>
                </a:lnSpc>
                <a:spcBef>
                  <a:spcPts val="1000"/>
                </a:spcBef>
                <a:buClrTx/>
                <a:buSzTx/>
                <a:buFontTx/>
              </a:pPr>
              <a:r>
                <a:rPr lang="zh-CN" altLang="zh-CN" sz="2800" b="1" spc="600" dirty="0">
                  <a:solidFill>
                    <a:srgbClr val="C00000"/>
                  </a:solidFill>
                  <a:latin typeface="+mn-lt"/>
                  <a:ea typeface="+mn-ea"/>
                  <a:cs typeface="+mn-ea"/>
                  <a:sym typeface="+mn-lt"/>
                </a:rPr>
                <a:t>岗位流程配置</a:t>
              </a:r>
              <a:endParaRPr lang="zh-CN" altLang="zh-CN" sz="2800" b="1" spc="600" dirty="0">
                <a:solidFill>
                  <a:srgbClr val="C00000"/>
                </a:solidFill>
                <a:latin typeface="+mn-lt"/>
                <a:ea typeface="+mn-ea"/>
                <a:cs typeface="+mn-ea"/>
                <a:sym typeface="+mn-lt"/>
              </a:endParaRPr>
            </a:p>
          </p:txBody>
        </p:sp>
        <p:cxnSp>
          <p:nvCxnSpPr>
            <p:cNvPr id="13" name="直接连接符 12"/>
            <p:cNvCxnSpPr/>
            <p:nvPr/>
          </p:nvCxnSpPr>
          <p:spPr>
            <a:xfrm>
              <a:off x="5711468" y="1897890"/>
              <a:ext cx="345638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四</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岗位流程配置</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4262120"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岗位流程配置</a:t>
            </a:r>
            <a:endParaRPr lang="zh-CN" altLang="zh-CN"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371475" y="1544320"/>
            <a:ext cx="11033125" cy="110680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zh-CN" altLang="en-US" sz="2200" dirty="0">
                <a:sym typeface="+mn-ea"/>
              </a:rPr>
              <a:t>岗位流程配置是系统管理员根据各单位各业务不同审批流程，通过选择岗位进行个性化配置，形成对应的系统流转流程。</a:t>
            </a:r>
            <a:endParaRPr lang="zh-CN" altLang="en-US" sz="2200" dirty="0"/>
          </a:p>
        </p:txBody>
      </p:sp>
      <p:sp>
        <p:nvSpPr>
          <p:cNvPr id="100" name="文本框 99"/>
          <p:cNvSpPr txBox="1"/>
          <p:nvPr/>
        </p:nvSpPr>
        <p:spPr>
          <a:xfrm>
            <a:off x="7550785" y="3524250"/>
            <a:ext cx="3907790" cy="1938020"/>
          </a:xfrm>
          <a:prstGeom prst="rect">
            <a:avLst/>
          </a:prstGeom>
          <a:noFill/>
          <a:ln w="9525">
            <a:noFill/>
          </a:ln>
        </p:spPr>
        <p:txBody>
          <a:bodyPr wrap="square">
            <a:spAutoFit/>
          </a:bodyPr>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选择岗位</a:t>
            </a:r>
            <a:endParaRPr lang="zh-CN" altLang="en-US" sz="2000" b="0" dirty="0">
              <a:latin typeface="微软雅黑" panose="020B0503020204020204" pitchFamily="34" charset="-122"/>
              <a:ea typeface="微软雅黑" panose="020B0503020204020204" pitchFamily="34" charset="-122"/>
              <a:cs typeface="+mn-ea"/>
            </a:endParaRPr>
          </a:p>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配置流程页面</a:t>
            </a:r>
            <a:endParaRPr lang="zh-CN" altLang="en-US" sz="2000" b="0" dirty="0">
              <a:latin typeface="微软雅黑" panose="020B0503020204020204" pitchFamily="34" charset="-122"/>
              <a:ea typeface="微软雅黑" panose="020B0503020204020204" pitchFamily="34" charset="-122"/>
              <a:cs typeface="+mn-ea"/>
            </a:endParaRPr>
          </a:p>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配置分级授权规则</a:t>
            </a:r>
            <a:endParaRPr lang="zh-CN" altLang="en-US" sz="2000" b="0" dirty="0">
              <a:latin typeface="微软雅黑" panose="020B0503020204020204" pitchFamily="34" charset="-122"/>
              <a:ea typeface="微软雅黑" panose="020B0503020204020204" pitchFamily="34" charset="-122"/>
              <a:cs typeface="+mn-ea"/>
            </a:endParaRPr>
          </a:p>
          <a:p>
            <a:pPr marL="342900" indent="-342900" algn="l" defTabSz="914400">
              <a:lnSpc>
                <a:spcPct val="150000"/>
              </a:lnSpc>
              <a:buClrTx/>
              <a:buSzTx/>
              <a:buFont typeface="Wingdings" panose="05000000000000000000" charset="0"/>
              <a:buChar char="Ø"/>
            </a:pPr>
            <a:r>
              <a:rPr lang="zh-CN" altLang="en-US" sz="2000" b="0" dirty="0">
                <a:latin typeface="微软雅黑" panose="020B0503020204020204" pitchFamily="34" charset="-122"/>
                <a:ea typeface="微软雅黑" panose="020B0503020204020204" pitchFamily="34" charset="-122"/>
                <a:cs typeface="+mn-ea"/>
              </a:rPr>
              <a:t>保存</a:t>
            </a:r>
            <a:r>
              <a:rPr lang="zh-CN" altLang="en-US" sz="2000" b="0" dirty="0">
                <a:latin typeface="微软雅黑" panose="020B0503020204020204" pitchFamily="34" charset="-122"/>
                <a:ea typeface="微软雅黑" panose="020B0503020204020204" pitchFamily="34" charset="-122"/>
                <a:cs typeface="+mn-ea"/>
              </a:rPr>
              <a:t>并发布流程</a:t>
            </a:r>
            <a:endParaRPr lang="zh-CN" altLang="en-US" sz="2000" b="0" dirty="0">
              <a:latin typeface="微软雅黑" panose="020B0503020204020204" pitchFamily="34" charset="-122"/>
              <a:ea typeface="微软雅黑" panose="020B0503020204020204" pitchFamily="34" charset="-122"/>
              <a:cs typeface="+mn-ea"/>
            </a:endParaRPr>
          </a:p>
        </p:txBody>
      </p:sp>
      <p:pic>
        <p:nvPicPr>
          <p:cNvPr id="3" name="图片 2"/>
          <p:cNvPicPr>
            <a:picLocks noChangeAspect="1"/>
          </p:cNvPicPr>
          <p:nvPr>
            <p:custDataLst>
              <p:tags r:id="rId1"/>
            </p:custDataLst>
          </p:nvPr>
        </p:nvPicPr>
        <p:blipFill>
          <a:blip r:embed="rId2"/>
          <a:stretch>
            <a:fillRect/>
          </a:stretch>
        </p:blipFill>
        <p:spPr>
          <a:xfrm>
            <a:off x="371475" y="2946400"/>
            <a:ext cx="7107555" cy="325945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四</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岗位流程配置</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4262120"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岗位流程配置</a:t>
            </a:r>
            <a:r>
              <a:rPr lang="en-US" altLang="zh-CN" sz="2800" b="1" dirty="0">
                <a:latin typeface="微软雅黑" panose="020B0503020204020204" pitchFamily="34" charset="-122"/>
                <a:ea typeface="微软雅黑" panose="020B0503020204020204" pitchFamily="34" charset="-122"/>
                <a:cs typeface="+mn-ea"/>
                <a:sym typeface="+mn-lt"/>
              </a:rPr>
              <a:t>-</a:t>
            </a:r>
            <a:r>
              <a:rPr lang="zh-CN" altLang="en-US" sz="2800" b="1" dirty="0">
                <a:latin typeface="微软雅黑" panose="020B0503020204020204" pitchFamily="34" charset="-122"/>
                <a:ea typeface="微软雅黑" panose="020B0503020204020204" pitchFamily="34" charset="-122"/>
                <a:cs typeface="+mn-ea"/>
                <a:sym typeface="+mn-lt"/>
              </a:rPr>
              <a:t>选择岗位</a:t>
            </a:r>
            <a:endParaRPr lang="zh-CN" altLang="en-US"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371475" y="1544320"/>
            <a:ext cx="11475085" cy="110680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zh-CN" altLang="en-US" sz="2200" dirty="0"/>
              <a:t>在页面左侧机构树选中单位或部门，在右侧流程根目录中选择需要配置的业务流程，例如选择：</a:t>
            </a:r>
            <a:r>
              <a:rPr lang="en-US" altLang="zh-CN" sz="2200" dirty="0"/>
              <a:t>“</a:t>
            </a:r>
            <a:r>
              <a:rPr lang="zh-CN" altLang="en-US" sz="2200" dirty="0"/>
              <a:t>预算编制</a:t>
            </a:r>
            <a:r>
              <a:rPr lang="en-US" altLang="zh-CN" sz="2200" dirty="0"/>
              <a:t>”</a:t>
            </a:r>
            <a:r>
              <a:rPr lang="zh-CN" altLang="en-US" sz="2200" dirty="0"/>
              <a:t>业务流程，点击【选择岗位】按钮。</a:t>
            </a:r>
            <a:endParaRPr lang="zh-CN" altLang="en-US" sz="2200" dirty="0"/>
          </a:p>
        </p:txBody>
      </p:sp>
      <p:pic>
        <p:nvPicPr>
          <p:cNvPr id="3" name="图片 2"/>
          <p:cNvPicPr>
            <a:picLocks noChangeAspect="1"/>
          </p:cNvPicPr>
          <p:nvPr>
            <p:custDataLst>
              <p:tags r:id="rId1"/>
            </p:custDataLst>
          </p:nvPr>
        </p:nvPicPr>
        <p:blipFill>
          <a:blip r:embed="rId2"/>
          <a:stretch>
            <a:fillRect/>
          </a:stretch>
        </p:blipFill>
        <p:spPr>
          <a:xfrm>
            <a:off x="1811020" y="2875915"/>
            <a:ext cx="8393430" cy="38385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四</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岗位流程配置</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4262120"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岗位流程配置</a:t>
            </a:r>
            <a:r>
              <a:rPr lang="en-US" altLang="zh-CN" sz="2800" b="1" dirty="0">
                <a:latin typeface="微软雅黑" panose="020B0503020204020204" pitchFamily="34" charset="-122"/>
                <a:ea typeface="微软雅黑" panose="020B0503020204020204" pitchFamily="34" charset="-122"/>
                <a:cs typeface="+mn-ea"/>
                <a:sym typeface="+mn-lt"/>
              </a:rPr>
              <a:t>-</a:t>
            </a:r>
            <a:r>
              <a:rPr lang="zh-CN" altLang="en-US" sz="2800" b="1" dirty="0">
                <a:latin typeface="微软雅黑" panose="020B0503020204020204" pitchFamily="34" charset="-122"/>
                <a:ea typeface="微软雅黑" panose="020B0503020204020204" pitchFamily="34" charset="-122"/>
                <a:cs typeface="+mn-ea"/>
                <a:sym typeface="+mn-lt"/>
              </a:rPr>
              <a:t>选择岗位</a:t>
            </a:r>
            <a:endParaRPr lang="zh-CN" altLang="en-US"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142240" y="1503045"/>
            <a:ext cx="11570970" cy="175323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zh-CN" altLang="en-US" sz="1800" dirty="0"/>
              <a:t>进入【岗位流程配置</a:t>
            </a:r>
            <a:r>
              <a:rPr lang="en-US" altLang="zh-CN" sz="1800" dirty="0"/>
              <a:t>-</a:t>
            </a:r>
            <a:r>
              <a:rPr lang="zh-CN" altLang="en-US" sz="1800" dirty="0"/>
              <a:t>设定审批人员】页面，在左侧机构树中选中要配置流程的单位内的相关部门，此时“全部数据”区域会显示该</a:t>
            </a:r>
            <a:r>
              <a:rPr lang="zh-CN" altLang="en-US" sz="1800" dirty="0"/>
              <a:t>部门下的岗位信息，依次勾选流程的起始岗位、审批岗位（需按照流程的审批顺序依次选择岗位，例如：第一个选中的岗位为预算编制的发起人，第二个选中的岗位为预算编制的复核人，以此类推）后，在“已选数据”区域会显示出来。点击【确定】按钮。</a:t>
            </a:r>
            <a:endParaRPr lang="zh-CN" altLang="en-US" sz="1800" dirty="0"/>
          </a:p>
        </p:txBody>
      </p:sp>
      <p:pic>
        <p:nvPicPr>
          <p:cNvPr id="3" name="图片 2"/>
          <p:cNvPicPr>
            <a:picLocks noChangeAspect="1"/>
          </p:cNvPicPr>
          <p:nvPr>
            <p:custDataLst>
              <p:tags r:id="rId1"/>
            </p:custDataLst>
          </p:nvPr>
        </p:nvPicPr>
        <p:blipFill>
          <a:blip r:embed="rId2"/>
          <a:stretch>
            <a:fillRect/>
          </a:stretch>
        </p:blipFill>
        <p:spPr>
          <a:xfrm>
            <a:off x="1022985" y="3216275"/>
            <a:ext cx="10146030" cy="34823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四</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岗位流程</a:t>
            </a:r>
            <a:r>
              <a:rPr lang="zh-CN" sz="2800" b="1" spc="600" dirty="0">
                <a:solidFill>
                  <a:srgbClr val="C00000"/>
                </a:solidFill>
                <a:latin typeface="+mn-lt"/>
                <a:ea typeface="+mn-ea"/>
                <a:cs typeface="+mn-ea"/>
                <a:sym typeface="+mn-lt"/>
              </a:rPr>
              <a:t>配置</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6110605"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岗位流程配置</a:t>
            </a:r>
            <a:r>
              <a:rPr lang="en-US" altLang="zh-CN" sz="2800" b="1" dirty="0">
                <a:latin typeface="微软雅黑" panose="020B0503020204020204" pitchFamily="34" charset="-122"/>
                <a:ea typeface="微软雅黑" panose="020B0503020204020204" pitchFamily="34" charset="-122"/>
                <a:cs typeface="+mn-ea"/>
                <a:sym typeface="+mn-lt"/>
              </a:rPr>
              <a:t>-</a:t>
            </a:r>
            <a:r>
              <a:rPr lang="zh-CN" altLang="en-US" sz="2800" b="1" dirty="0">
                <a:latin typeface="微软雅黑" panose="020B0503020204020204" pitchFamily="34" charset="-122"/>
                <a:ea typeface="微软雅黑" panose="020B0503020204020204" pitchFamily="34" charset="-122"/>
                <a:cs typeface="+mn-ea"/>
                <a:sym typeface="+mn-lt"/>
              </a:rPr>
              <a:t>配置页面及节点顺序</a:t>
            </a:r>
            <a:endParaRPr lang="zh-CN" altLang="en-US"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97790" y="1544320"/>
            <a:ext cx="11942445" cy="133794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zh-CN" altLang="en-US" sz="1800" dirty="0"/>
              <a:t>返回【岗位流程配置】页面为岗位配置审批页面，例如：预算编制发起岗的“审批页面”字段设置为“预算编制经办人页面”，预算编制审批岗的“审批页面”字段设置为“预算编制审批页面”。“结果列表”区域中的“序号”代表该流程的流转顺序，如发现与实际业务流程不符，可使用操作区域的“上移”、“下移”按钮进行顺序调整。</a:t>
            </a:r>
            <a:endParaRPr lang="zh-CN" altLang="en-US" sz="1800" dirty="0"/>
          </a:p>
        </p:txBody>
      </p:sp>
      <p:pic>
        <p:nvPicPr>
          <p:cNvPr id="3" name="图片 2"/>
          <p:cNvPicPr>
            <a:picLocks noChangeAspect="1"/>
          </p:cNvPicPr>
          <p:nvPr>
            <p:custDataLst>
              <p:tags r:id="rId1"/>
            </p:custDataLst>
          </p:nvPr>
        </p:nvPicPr>
        <p:blipFill>
          <a:blip r:embed="rId2"/>
          <a:stretch>
            <a:fillRect/>
          </a:stretch>
        </p:blipFill>
        <p:spPr>
          <a:xfrm>
            <a:off x="2292985" y="3068955"/>
            <a:ext cx="7606030" cy="348996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四</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岗位流程配置</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5912485"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岗位流程配置</a:t>
            </a:r>
            <a:r>
              <a:rPr lang="en-US" altLang="zh-CN" sz="2800" b="1" dirty="0">
                <a:latin typeface="微软雅黑" panose="020B0503020204020204" pitchFamily="34" charset="-122"/>
                <a:ea typeface="微软雅黑" panose="020B0503020204020204" pitchFamily="34" charset="-122"/>
                <a:cs typeface="+mn-ea"/>
                <a:sym typeface="+mn-lt"/>
              </a:rPr>
              <a:t>-</a:t>
            </a:r>
            <a:r>
              <a:rPr lang="zh-CN" altLang="en-US" sz="2800" b="1" dirty="0">
                <a:latin typeface="微软雅黑" panose="020B0503020204020204" pitchFamily="34" charset="-122"/>
                <a:ea typeface="微软雅黑" panose="020B0503020204020204" pitchFamily="34" charset="-122"/>
                <a:cs typeface="+mn-ea"/>
                <a:sym typeface="+mn-lt"/>
              </a:rPr>
              <a:t>配置分级授权规则</a:t>
            </a:r>
            <a:endParaRPr lang="zh-CN" altLang="en-US"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611084" y="1544538"/>
            <a:ext cx="10793834" cy="216852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zh-CN" altLang="en-US" sz="1800" dirty="0"/>
              <a:t>对于因外部环境、经营条件等发生变化，确需对预算额度进行调整的，按照分级授权原则进行调整审批。根据集团公司管理要求，各直属单位年预算调整金额大于10亿且调整比例大于10%、月预算调整金额大于1亿且调整比例大于5%，预算调整审批流程除经本公司审批完成后，需逐级上报至集团公司审批后生效。</a:t>
            </a:r>
            <a:endParaRPr lang="zh-CN" altLang="en-US" sz="1800" dirty="0"/>
          </a:p>
          <a:p>
            <a:pPr indent="457200"/>
            <a:r>
              <a:rPr lang="zh-CN" altLang="en-US" sz="1800" dirty="0"/>
              <a:t>在“预算调整”流程配置时，可在页面右上方的“条件表达式”字段处进行分级授权表达式的配置</a:t>
            </a:r>
            <a:r>
              <a:rPr lang="zh-CN" altLang="en-US" sz="1600" dirty="0"/>
              <a:t>。</a:t>
            </a:r>
            <a:endParaRPr lang="zh-CN" altLang="en-US" sz="1600" dirty="0"/>
          </a:p>
        </p:txBody>
      </p:sp>
      <p:pic>
        <p:nvPicPr>
          <p:cNvPr id="5" name="图片 4"/>
          <p:cNvPicPr>
            <a:picLocks noChangeAspect="1"/>
          </p:cNvPicPr>
          <p:nvPr>
            <p:custDataLst>
              <p:tags r:id="rId1"/>
            </p:custDataLst>
          </p:nvPr>
        </p:nvPicPr>
        <p:blipFill>
          <a:blip r:embed="rId2"/>
          <a:stretch>
            <a:fillRect/>
          </a:stretch>
        </p:blipFill>
        <p:spPr>
          <a:xfrm>
            <a:off x="2145030" y="3707765"/>
            <a:ext cx="6471285" cy="29591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四</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岗位流程配置</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5912485"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岗位流程配置</a:t>
            </a:r>
            <a:r>
              <a:rPr lang="en-US" altLang="zh-CN" sz="2800" b="1" dirty="0">
                <a:latin typeface="微软雅黑" panose="020B0503020204020204" pitchFamily="34" charset="-122"/>
                <a:ea typeface="微软雅黑" panose="020B0503020204020204" pitchFamily="34" charset="-122"/>
                <a:cs typeface="+mn-ea"/>
                <a:sym typeface="+mn-lt"/>
              </a:rPr>
              <a:t>-</a:t>
            </a:r>
            <a:r>
              <a:rPr lang="zh-CN" altLang="en-US" sz="2800" b="1" dirty="0">
                <a:latin typeface="微软雅黑" panose="020B0503020204020204" pitchFamily="34" charset="-122"/>
                <a:ea typeface="微软雅黑" panose="020B0503020204020204" pitchFamily="34" charset="-122"/>
                <a:cs typeface="+mn-ea"/>
                <a:sym typeface="+mn-lt"/>
              </a:rPr>
              <a:t>配置分级授权规则</a:t>
            </a:r>
            <a:endParaRPr lang="zh-CN" altLang="en-US"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2" name="图片 1"/>
          <p:cNvPicPr>
            <a:picLocks noChangeAspect="1"/>
          </p:cNvPicPr>
          <p:nvPr>
            <p:custDataLst>
              <p:tags r:id="rId1"/>
            </p:custDataLst>
          </p:nvPr>
        </p:nvPicPr>
        <p:blipFill>
          <a:blip r:embed="rId2"/>
          <a:stretch>
            <a:fillRect/>
          </a:stretch>
        </p:blipFill>
        <p:spPr>
          <a:xfrm>
            <a:off x="1204595" y="1986915"/>
            <a:ext cx="9782810" cy="3292475"/>
          </a:xfrm>
          <a:prstGeom prst="rect">
            <a:avLst/>
          </a:prstGeom>
        </p:spPr>
      </p:pic>
      <p:sp>
        <p:nvSpPr>
          <p:cNvPr id="3" name="文本框 2"/>
          <p:cNvSpPr txBox="1"/>
          <p:nvPr/>
        </p:nvSpPr>
        <p:spPr>
          <a:xfrm>
            <a:off x="431800" y="5502275"/>
            <a:ext cx="10704830" cy="737235"/>
          </a:xfrm>
          <a:prstGeom prst="rect">
            <a:avLst/>
          </a:prstGeom>
          <a:noFill/>
        </p:spPr>
        <p:txBody>
          <a:bodyPr wrap="square" rtlCol="0" anchor="t">
            <a:spAutoFit/>
          </a:bodyPr>
          <a:p>
            <a:pPr>
              <a:lnSpc>
                <a:spcPct val="150000"/>
              </a:lnSpc>
            </a:pPr>
            <a:r>
              <a:rPr lang="zh-CN" altLang="en-US" sz="1400">
                <a:latin typeface="微软雅黑" panose="020B0503020204020204" pitchFamily="34" charset="-122"/>
                <a:ea typeface="微软雅黑" panose="020B0503020204020204" pitchFamily="34" charset="-122"/>
              </a:rPr>
              <a:t>(periodType==01 &amp;&amp; (amt&gt;=</a:t>
            </a:r>
            <a:r>
              <a:rPr lang="zh-CN" altLang="en-US" sz="1400">
                <a:solidFill>
                  <a:srgbClr val="FF0000"/>
                </a:solidFill>
                <a:latin typeface="微软雅黑" panose="020B0503020204020204" pitchFamily="34" charset="-122"/>
                <a:ea typeface="微软雅黑" panose="020B0503020204020204" pitchFamily="34" charset="-122"/>
              </a:rPr>
              <a:t>1000000000 </a:t>
            </a:r>
            <a:r>
              <a:rPr lang="zh-CN" altLang="en-US" sz="1400">
                <a:latin typeface="微软雅黑" panose="020B0503020204020204" pitchFamily="34" charset="-122"/>
                <a:ea typeface="微软雅黑" panose="020B0503020204020204" pitchFamily="34" charset="-122"/>
              </a:rPr>
              <a:t>&amp;&amp; rate&gt;=</a:t>
            </a:r>
            <a:r>
              <a:rPr lang="zh-CN" altLang="en-US" sz="1400">
                <a:solidFill>
                  <a:srgbClr val="FF0000"/>
                </a:solidFill>
                <a:latin typeface="微软雅黑" panose="020B0503020204020204" pitchFamily="34" charset="-122"/>
                <a:ea typeface="微软雅黑" panose="020B0503020204020204" pitchFamily="34" charset="-122"/>
              </a:rPr>
              <a:t>0.1</a:t>
            </a:r>
            <a:r>
              <a:rPr lang="zh-CN" altLang="en-US" sz="1400">
                <a:latin typeface="微软雅黑" panose="020B0503020204020204" pitchFamily="34" charset="-122"/>
                <a:ea typeface="微软雅黑" panose="020B0503020204020204" pitchFamily="34" charset="-122"/>
              </a:rPr>
              <a:t>)) || (periodType==04 &amp;&amp;(amt&gt;=</a:t>
            </a:r>
            <a:r>
              <a:rPr lang="zh-CN" altLang="en-US" sz="1400">
                <a:solidFill>
                  <a:srgbClr val="FF0000"/>
                </a:solidFill>
                <a:latin typeface="微软雅黑" panose="020B0503020204020204" pitchFamily="34" charset="-122"/>
                <a:ea typeface="微软雅黑" panose="020B0503020204020204" pitchFamily="34" charset="-122"/>
              </a:rPr>
              <a:t>100000000 </a:t>
            </a:r>
            <a:r>
              <a:rPr lang="zh-CN" altLang="en-US" sz="1400">
                <a:latin typeface="微软雅黑" panose="020B0503020204020204" pitchFamily="34" charset="-122"/>
                <a:ea typeface="微软雅黑" panose="020B0503020204020204" pitchFamily="34" charset="-122"/>
              </a:rPr>
              <a:t>&amp;&amp; rate&gt;=</a:t>
            </a:r>
            <a:r>
              <a:rPr lang="zh-CN" altLang="en-US" sz="1400">
                <a:solidFill>
                  <a:srgbClr val="FF0000"/>
                </a:solidFill>
                <a:latin typeface="微软雅黑" panose="020B0503020204020204" pitchFamily="34" charset="-122"/>
                <a:ea typeface="微软雅黑" panose="020B0503020204020204" pitchFamily="34" charset="-122"/>
              </a:rPr>
              <a:t>0.05</a:t>
            </a:r>
            <a:r>
              <a:rPr lang="zh-CN" altLang="en-US" sz="1400">
                <a:latin typeface="微软雅黑" panose="020B0503020204020204" pitchFamily="34" charset="-122"/>
                <a:ea typeface="微软雅黑" panose="020B0503020204020204" pitchFamily="34" charset="-122"/>
              </a:rPr>
              <a:t>))</a:t>
            </a:r>
            <a:endParaRPr lang="zh-CN" altLang="en-US" sz="1400">
              <a:latin typeface="微软雅黑" panose="020B0503020204020204" pitchFamily="34" charset="-122"/>
              <a:ea typeface="微软雅黑" panose="020B0503020204020204" pitchFamily="34" charset="-122"/>
            </a:endParaRPr>
          </a:p>
          <a:p>
            <a:pPr>
              <a:lnSpc>
                <a:spcPct val="150000"/>
              </a:lnSpc>
            </a:pPr>
            <a:r>
              <a:rPr lang="zh-CN" altLang="en-US" sz="1400">
                <a:latin typeface="微软雅黑" panose="020B0503020204020204" pitchFamily="34" charset="-122"/>
                <a:ea typeface="微软雅黑" panose="020B0503020204020204" pitchFamily="34" charset="-122"/>
              </a:rPr>
              <a:t>此表达式为年预算调整金额大于</a:t>
            </a:r>
            <a:r>
              <a:rPr lang="en-US" altLang="zh-CN" sz="1400">
                <a:latin typeface="微软雅黑" panose="020B0503020204020204" pitchFamily="34" charset="-122"/>
                <a:ea typeface="微软雅黑" panose="020B0503020204020204" pitchFamily="34" charset="-122"/>
              </a:rPr>
              <a:t>10</a:t>
            </a:r>
            <a:r>
              <a:rPr lang="zh-CN" altLang="en-US" sz="1400">
                <a:latin typeface="微软雅黑" panose="020B0503020204020204" pitchFamily="34" charset="-122"/>
                <a:ea typeface="微软雅黑" panose="020B0503020204020204" pitchFamily="34" charset="-122"/>
              </a:rPr>
              <a:t>亿且调整比例大于</a:t>
            </a:r>
            <a:r>
              <a:rPr lang="en-US" altLang="zh-CN" sz="1400">
                <a:latin typeface="微软雅黑" panose="020B0503020204020204" pitchFamily="34" charset="-122"/>
                <a:ea typeface="微软雅黑" panose="020B0503020204020204" pitchFamily="34" charset="-122"/>
              </a:rPr>
              <a:t>10%</a:t>
            </a:r>
            <a:r>
              <a:rPr lang="zh-CN" altLang="en-US" sz="1400">
                <a:latin typeface="微软雅黑" panose="020B0503020204020204" pitchFamily="34" charset="-122"/>
                <a:ea typeface="微软雅黑" panose="020B0503020204020204" pitchFamily="34" charset="-122"/>
              </a:rPr>
              <a:t>，月计划调整比例大于</a:t>
            </a:r>
            <a:r>
              <a:rPr lang="en-US" altLang="zh-CN" sz="1400">
                <a:latin typeface="微软雅黑" panose="020B0503020204020204" pitchFamily="34" charset="-122"/>
                <a:ea typeface="微软雅黑" panose="020B0503020204020204" pitchFamily="34" charset="-122"/>
              </a:rPr>
              <a:t>1</a:t>
            </a:r>
            <a:r>
              <a:rPr lang="zh-CN" altLang="en-US" sz="1400">
                <a:latin typeface="微软雅黑" panose="020B0503020204020204" pitchFamily="34" charset="-122"/>
                <a:ea typeface="微软雅黑" panose="020B0503020204020204" pitchFamily="34" charset="-122"/>
              </a:rPr>
              <a:t>亿且调整比例大于</a:t>
            </a:r>
            <a:r>
              <a:rPr lang="en-US" altLang="zh-CN" sz="1400">
                <a:latin typeface="微软雅黑" panose="020B0503020204020204" pitchFamily="34" charset="-122"/>
                <a:ea typeface="微软雅黑" panose="020B0503020204020204" pitchFamily="34" charset="-122"/>
              </a:rPr>
              <a:t>5%</a:t>
            </a:r>
            <a:r>
              <a:rPr lang="zh-CN" altLang="en-US" sz="1400">
                <a:latin typeface="微软雅黑" panose="020B0503020204020204" pitchFamily="34" charset="-122"/>
                <a:ea typeface="微软雅黑" panose="020B0503020204020204" pitchFamily="34" charset="-122"/>
              </a:rPr>
              <a:t>。</a:t>
            </a:r>
            <a:endParaRPr lang="zh-CN" altLang="en-US" sz="1400">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平行四边形 22"/>
          <p:cNvSpPr/>
          <p:nvPr/>
        </p:nvSpPr>
        <p:spPr>
          <a:xfrm>
            <a:off x="490383" y="230623"/>
            <a:ext cx="752187" cy="445296"/>
          </a:xfrm>
          <a:prstGeom prst="parallelogram">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lstStyle/>
          <a:p>
            <a:pPr algn="ctr"/>
            <a:r>
              <a:rPr lang="zh-CN" altLang="en-US" sz="2000" dirty="0">
                <a:cs typeface="+mn-ea"/>
                <a:sym typeface="+mn-lt"/>
              </a:rPr>
              <a:t>四</a:t>
            </a:r>
            <a:endParaRPr lang="zh-CN" altLang="en-US" sz="2000" dirty="0">
              <a:cs typeface="+mn-ea"/>
              <a:sym typeface="+mn-lt"/>
            </a:endParaRPr>
          </a:p>
        </p:txBody>
      </p:sp>
      <p:sp>
        <p:nvSpPr>
          <p:cNvPr id="28" name="TextBox 22"/>
          <p:cNvSpPr txBox="1"/>
          <p:nvPr/>
        </p:nvSpPr>
        <p:spPr>
          <a:xfrm>
            <a:off x="1527870" y="230623"/>
            <a:ext cx="7704856" cy="478155"/>
          </a:xfrm>
          <a:prstGeom prst="rect">
            <a:avLst/>
          </a:prstGeom>
          <a:noFill/>
        </p:spPr>
        <p:txBody>
          <a:bodyPr wrap="square" rtlCol="0">
            <a:spAutoFit/>
          </a:bodyPr>
          <a:lstStyle/>
          <a:p>
            <a:pPr>
              <a:lnSpc>
                <a:spcPct val="90000"/>
              </a:lnSpc>
              <a:spcBef>
                <a:spcPts val="1000"/>
              </a:spcBef>
            </a:pPr>
            <a:r>
              <a:rPr lang="zh-CN" sz="2800" b="1" spc="600" dirty="0">
                <a:solidFill>
                  <a:srgbClr val="C00000"/>
                </a:solidFill>
                <a:latin typeface="+mn-lt"/>
                <a:ea typeface="+mn-ea"/>
                <a:cs typeface="+mn-ea"/>
                <a:sym typeface="+mn-lt"/>
              </a:rPr>
              <a:t>岗位流程配置</a:t>
            </a:r>
            <a:endParaRPr lang="zh-CN" sz="2800" b="1" spc="600" dirty="0">
              <a:solidFill>
                <a:srgbClr val="C00000"/>
              </a:solidFill>
              <a:latin typeface="+mn-lt"/>
              <a:ea typeface="+mn-ea"/>
              <a:cs typeface="+mn-ea"/>
              <a:sym typeface="+mn-lt"/>
            </a:endParaRPr>
          </a:p>
        </p:txBody>
      </p:sp>
      <p:grpSp>
        <p:nvGrpSpPr>
          <p:cNvPr id="18" name="组合 17"/>
          <p:cNvGrpSpPr/>
          <p:nvPr/>
        </p:nvGrpSpPr>
        <p:grpSpPr>
          <a:xfrm>
            <a:off x="-1044624" y="620688"/>
            <a:ext cx="576064" cy="2448272"/>
            <a:chOff x="-1044624" y="620688"/>
            <a:chExt cx="576064" cy="2448272"/>
          </a:xfrm>
        </p:grpSpPr>
        <p:sp>
          <p:nvSpPr>
            <p:cNvPr id="19" name="矩形 18"/>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5" name="矩形 24"/>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
        <p:nvSpPr>
          <p:cNvPr id="10" name="文本框 9"/>
          <p:cNvSpPr txBox="1"/>
          <p:nvPr/>
        </p:nvSpPr>
        <p:spPr>
          <a:xfrm>
            <a:off x="873125" y="1005205"/>
            <a:ext cx="4262120" cy="521970"/>
          </a:xfrm>
          <a:prstGeom prst="rect">
            <a:avLst/>
          </a:prstGeom>
          <a:noFill/>
        </p:spPr>
        <p:txBody>
          <a:bodyPr wrap="square" rtlCol="0">
            <a:spAutoFit/>
          </a:bodyPr>
          <a:lstStyle/>
          <a:p>
            <a:r>
              <a:rPr lang="zh-CN" altLang="zh-CN" sz="2800" b="1" dirty="0">
                <a:latin typeface="微软雅黑" panose="020B0503020204020204" pitchFamily="34" charset="-122"/>
                <a:ea typeface="微软雅黑" panose="020B0503020204020204" pitchFamily="34" charset="-122"/>
                <a:cs typeface="+mn-ea"/>
                <a:sym typeface="+mn-lt"/>
              </a:rPr>
              <a:t>岗位流程配置</a:t>
            </a:r>
            <a:r>
              <a:rPr lang="en-US" altLang="zh-CN" sz="2800" b="1" dirty="0">
                <a:latin typeface="微软雅黑" panose="020B0503020204020204" pitchFamily="34" charset="-122"/>
                <a:ea typeface="微软雅黑" panose="020B0503020204020204" pitchFamily="34" charset="-122"/>
                <a:cs typeface="+mn-ea"/>
                <a:sym typeface="+mn-lt"/>
              </a:rPr>
              <a:t>-</a:t>
            </a:r>
            <a:r>
              <a:rPr lang="zh-CN" altLang="en-US" sz="2800" b="1" dirty="0">
                <a:latin typeface="微软雅黑" panose="020B0503020204020204" pitchFamily="34" charset="-122"/>
                <a:ea typeface="微软雅黑" panose="020B0503020204020204" pitchFamily="34" charset="-122"/>
                <a:cs typeface="+mn-ea"/>
                <a:sym typeface="+mn-lt"/>
              </a:rPr>
              <a:t>发布流程</a:t>
            </a:r>
            <a:endParaRPr lang="zh-CN" altLang="en-US" sz="2800" b="1" dirty="0">
              <a:latin typeface="微软雅黑" panose="020B0503020204020204" pitchFamily="34" charset="-122"/>
              <a:ea typeface="微软雅黑" panose="020B0503020204020204" pitchFamily="34" charset="-122"/>
              <a:cs typeface="+mn-ea"/>
              <a:sym typeface="+mn-lt"/>
            </a:endParaRPr>
          </a:p>
        </p:txBody>
      </p:sp>
      <p:sp>
        <p:nvSpPr>
          <p:cNvPr id="11" name="矩形 10"/>
          <p:cNvSpPr/>
          <p:nvPr/>
        </p:nvSpPr>
        <p:spPr>
          <a:xfrm>
            <a:off x="371201" y="1038654"/>
            <a:ext cx="372660" cy="37265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2" name="矩形 11"/>
          <p:cNvSpPr/>
          <p:nvPr/>
        </p:nvSpPr>
        <p:spPr>
          <a:xfrm>
            <a:off x="554809" y="1238470"/>
            <a:ext cx="248440" cy="248440"/>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 name="文本框 5"/>
          <p:cNvSpPr txBox="1"/>
          <p:nvPr/>
        </p:nvSpPr>
        <p:spPr>
          <a:xfrm>
            <a:off x="611084" y="1544538"/>
            <a:ext cx="10793834" cy="1106805"/>
          </a:xfrm>
          <a:prstGeom prst="rect">
            <a:avLst/>
          </a:prstGeom>
          <a:noFill/>
        </p:spPr>
        <p:txBody>
          <a:bodyPr wrap="square" rtlCol="0">
            <a:spAutoFit/>
          </a:bodyPr>
          <a:lstStyle>
            <a:defPPr>
              <a:defRPr lang="zh-CN"/>
            </a:defPPr>
            <a:lvl1pPr marL="0" defTabSz="914400" eaLnBrk="1" latinLnBrk="0" hangingPunct="1">
              <a:lnSpc>
                <a:spcPct val="150000"/>
              </a:lnSpc>
              <a:defRPr sz="2000">
                <a:latin typeface="微软雅黑" panose="020B0503020204020204" pitchFamily="34" charset="-122"/>
                <a:ea typeface="微软雅黑" panose="020B0503020204020204" pitchFamily="34" charset="-122"/>
                <a:cs typeface="+mn-ea"/>
              </a:defRPr>
            </a:lvl1pPr>
            <a:lvl2pPr defTabSz="914400" eaLnBrk="1" latinLnBrk="0" hangingPunct="1">
              <a:defRPr sz="1800">
                <a:latin typeface="+mn-lt"/>
                <a:ea typeface="+mn-ea"/>
              </a:defRPr>
            </a:lvl2pPr>
            <a:lvl3pPr defTabSz="914400" eaLnBrk="1" latinLnBrk="0" hangingPunct="1">
              <a:defRPr sz="1800">
                <a:latin typeface="+mn-lt"/>
                <a:ea typeface="+mn-ea"/>
              </a:defRPr>
            </a:lvl3pPr>
            <a:lvl4pPr defTabSz="914400" eaLnBrk="1" latinLnBrk="0" hangingPunct="1">
              <a:defRPr sz="1800">
                <a:latin typeface="+mn-lt"/>
                <a:ea typeface="+mn-ea"/>
              </a:defRPr>
            </a:lvl4pPr>
            <a:lvl5pPr defTabSz="914400" eaLnBrk="1" latinLnBrk="0" hangingPunct="1">
              <a:defRPr sz="1800">
                <a:latin typeface="+mn-lt"/>
                <a:ea typeface="+mn-ea"/>
              </a:defRPr>
            </a:lvl5pPr>
            <a:lvl6pPr>
              <a:defRPr sz="1800">
                <a:latin typeface="+mn-lt"/>
                <a:ea typeface="+mn-ea"/>
              </a:defRPr>
            </a:lvl6pPr>
            <a:lvl7pPr>
              <a:defRPr sz="1800">
                <a:latin typeface="+mn-lt"/>
                <a:ea typeface="+mn-ea"/>
              </a:defRPr>
            </a:lvl7pPr>
            <a:lvl8pPr>
              <a:defRPr sz="1800">
                <a:latin typeface="+mn-lt"/>
                <a:ea typeface="+mn-ea"/>
              </a:defRPr>
            </a:lvl8pPr>
            <a:lvl9pPr>
              <a:defRPr sz="1800">
                <a:latin typeface="+mn-lt"/>
                <a:ea typeface="+mn-ea"/>
              </a:defRPr>
            </a:lvl9pPr>
          </a:lstStyle>
          <a:p>
            <a:pPr indent="457200"/>
            <a:r>
              <a:rPr lang="zh-CN" altLang="en-US" sz="2200" dirty="0"/>
              <a:t>点击【保存并发布】</a:t>
            </a:r>
            <a:r>
              <a:rPr lang="zh-CN" altLang="en-US" sz="2200" dirty="0"/>
              <a:t>按钮，提示“岗位流程发布成功”，即代表该业务流程设置完成。配置的业务流程将按照岗位顺序依次进行流转。</a:t>
            </a:r>
            <a:endParaRPr lang="zh-CN" altLang="en-US" sz="2200" dirty="0"/>
          </a:p>
        </p:txBody>
      </p:sp>
      <p:pic>
        <p:nvPicPr>
          <p:cNvPr id="3" name="图片 2"/>
          <p:cNvPicPr>
            <a:picLocks noChangeAspect="1"/>
          </p:cNvPicPr>
          <p:nvPr>
            <p:custDataLst>
              <p:tags r:id="rId1"/>
            </p:custDataLst>
          </p:nvPr>
        </p:nvPicPr>
        <p:blipFill>
          <a:blip r:embed="rId2"/>
          <a:stretch>
            <a:fillRect/>
          </a:stretch>
        </p:blipFill>
        <p:spPr>
          <a:xfrm>
            <a:off x="1083310" y="2783840"/>
            <a:ext cx="8594725" cy="39395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文本框 1"/>
          <p:cNvSpPr txBox="1"/>
          <p:nvPr/>
        </p:nvSpPr>
        <p:spPr>
          <a:xfrm>
            <a:off x="3924600" y="2556917"/>
            <a:ext cx="5016602" cy="1107996"/>
          </a:xfrm>
          <a:prstGeom prst="rect">
            <a:avLst/>
          </a:prstGeom>
          <a:noFill/>
        </p:spPr>
        <p:txBody>
          <a:bodyPr wrap="square" rtlCol="0">
            <a:spAutoFit/>
          </a:bodyPr>
          <a:lstStyle/>
          <a:p>
            <a:r>
              <a:rPr lang="zh-CN" altLang="en-US" sz="6600" b="1" spc="600" dirty="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38100" dist="38100" dir="2700000" algn="tl">
                    <a:srgbClr val="000000">
                      <a:alpha val="43137"/>
                    </a:srgbClr>
                  </a:outerShdw>
                </a:effectLst>
                <a:latin typeface="+mn-lt"/>
                <a:ea typeface="+mn-ea"/>
                <a:cs typeface="+mn-ea"/>
                <a:sym typeface="+mn-lt"/>
              </a:rPr>
              <a:t>感谢聆听！</a:t>
            </a:r>
            <a:endParaRPr lang="en-US" altLang="zh-CN" sz="6600" b="1" spc="600" dirty="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a:outerShdw blurRad="38100" dist="38100" dir="2700000" algn="tl">
                  <a:srgbClr val="000000">
                    <a:alpha val="43137"/>
                  </a:srgbClr>
                </a:outerShdw>
              </a:effectLst>
              <a:latin typeface="+mn-lt"/>
              <a:ea typeface="+mn-ea"/>
              <a:cs typeface="+mn-ea"/>
              <a:sym typeface="+mn-lt"/>
            </a:endParaRPr>
          </a:p>
        </p:txBody>
      </p:sp>
      <p:grpSp>
        <p:nvGrpSpPr>
          <p:cNvPr id="9" name="组合 8"/>
          <p:cNvGrpSpPr/>
          <p:nvPr/>
        </p:nvGrpSpPr>
        <p:grpSpPr>
          <a:xfrm>
            <a:off x="-579412" y="2838402"/>
            <a:ext cx="4504012" cy="4502392"/>
            <a:chOff x="2036763" y="-752475"/>
            <a:chExt cx="4411662" cy="4410075"/>
          </a:xfrm>
          <a:solidFill>
            <a:srgbClr val="FFC000">
              <a:alpha val="15000"/>
            </a:srgbClr>
          </a:solidFill>
        </p:grpSpPr>
        <p:sp>
          <p:nvSpPr>
            <p:cNvPr id="10" name="Freeform 5"/>
            <p:cNvSpPr/>
            <p:nvPr userDrawn="1"/>
          </p:nvSpPr>
          <p:spPr bwMode="auto">
            <a:xfrm>
              <a:off x="3675063" y="88900"/>
              <a:ext cx="2022475" cy="1638300"/>
            </a:xfrm>
            <a:custGeom>
              <a:avLst/>
              <a:gdLst>
                <a:gd name="T0" fmla="*/ 830 w 1274"/>
                <a:gd name="T1" fmla="*/ 396 h 1032"/>
                <a:gd name="T2" fmla="*/ 396 w 1274"/>
                <a:gd name="T3" fmla="*/ 598 h 1032"/>
                <a:gd name="T4" fmla="*/ 0 w 1274"/>
                <a:gd name="T5" fmla="*/ 1032 h 1032"/>
                <a:gd name="T6" fmla="*/ 444 w 1274"/>
                <a:gd name="T7" fmla="*/ 1032 h 1032"/>
                <a:gd name="T8" fmla="*/ 1274 w 1274"/>
                <a:gd name="T9" fmla="*/ 0 h 1032"/>
                <a:gd name="T10" fmla="*/ 830 w 1274"/>
                <a:gd name="T11" fmla="*/ 396 h 1032"/>
              </a:gdLst>
              <a:ahLst/>
              <a:cxnLst>
                <a:cxn ang="0">
                  <a:pos x="T0" y="T1"/>
                </a:cxn>
                <a:cxn ang="0">
                  <a:pos x="T2" y="T3"/>
                </a:cxn>
                <a:cxn ang="0">
                  <a:pos x="T4" y="T5"/>
                </a:cxn>
                <a:cxn ang="0">
                  <a:pos x="T6" y="T7"/>
                </a:cxn>
                <a:cxn ang="0">
                  <a:pos x="T8" y="T9"/>
                </a:cxn>
                <a:cxn ang="0">
                  <a:pos x="T10" y="T11"/>
                </a:cxn>
              </a:cxnLst>
              <a:rect l="0" t="0" r="r" b="b"/>
              <a:pathLst>
                <a:path w="1274" h="1032">
                  <a:moveTo>
                    <a:pt x="830" y="396"/>
                  </a:moveTo>
                  <a:lnTo>
                    <a:pt x="396" y="598"/>
                  </a:lnTo>
                  <a:lnTo>
                    <a:pt x="0" y="1032"/>
                  </a:lnTo>
                  <a:lnTo>
                    <a:pt x="444" y="1032"/>
                  </a:lnTo>
                  <a:lnTo>
                    <a:pt x="1274" y="0"/>
                  </a:lnTo>
                  <a:lnTo>
                    <a:pt x="830" y="3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lt"/>
                <a:ea typeface="+mn-ea"/>
                <a:cs typeface="+mn-ea"/>
                <a:sym typeface="+mn-lt"/>
              </a:endParaRPr>
            </a:p>
          </p:txBody>
        </p:sp>
        <p:sp>
          <p:nvSpPr>
            <p:cNvPr id="12" name="Freeform 6"/>
            <p:cNvSpPr>
              <a:spLocks noEditPoints="1"/>
            </p:cNvSpPr>
            <p:nvPr userDrawn="1"/>
          </p:nvSpPr>
          <p:spPr bwMode="auto">
            <a:xfrm>
              <a:off x="2036763" y="-752475"/>
              <a:ext cx="4411662" cy="4410075"/>
            </a:xfrm>
            <a:custGeom>
              <a:avLst/>
              <a:gdLst>
                <a:gd name="T0" fmla="*/ 288 w 288"/>
                <a:gd name="T1" fmla="*/ 0 h 288"/>
                <a:gd name="T2" fmla="*/ 225 w 288"/>
                <a:gd name="T3" fmla="*/ 46 h 288"/>
                <a:gd name="T4" fmla="*/ 137 w 288"/>
                <a:gd name="T5" fmla="*/ 15 h 288"/>
                <a:gd name="T6" fmla="*/ 0 w 288"/>
                <a:gd name="T7" fmla="*/ 152 h 288"/>
                <a:gd name="T8" fmla="*/ 137 w 288"/>
                <a:gd name="T9" fmla="*/ 288 h 288"/>
                <a:gd name="T10" fmla="*/ 274 w 288"/>
                <a:gd name="T11" fmla="*/ 152 h 288"/>
                <a:gd name="T12" fmla="*/ 255 w 288"/>
                <a:gd name="T13" fmla="*/ 83 h 288"/>
                <a:gd name="T14" fmla="*/ 288 w 288"/>
                <a:gd name="T15" fmla="*/ 0 h 288"/>
                <a:gd name="T16" fmla="*/ 156 w 288"/>
                <a:gd name="T17" fmla="*/ 29 h 288"/>
                <a:gd name="T18" fmla="*/ 220 w 288"/>
                <a:gd name="T19" fmla="*/ 49 h 288"/>
                <a:gd name="T20" fmla="*/ 48 w 288"/>
                <a:gd name="T21" fmla="*/ 127 h 288"/>
                <a:gd name="T22" fmla="*/ 156 w 288"/>
                <a:gd name="T23" fmla="*/ 29 h 288"/>
                <a:gd name="T24" fmla="*/ 265 w 288"/>
                <a:gd name="T25" fmla="*/ 138 h 288"/>
                <a:gd name="T26" fmla="*/ 156 w 288"/>
                <a:gd name="T27" fmla="*/ 246 h 288"/>
                <a:gd name="T28" fmla="*/ 48 w 288"/>
                <a:gd name="T29" fmla="*/ 138 h 288"/>
                <a:gd name="T30" fmla="*/ 48 w 288"/>
                <a:gd name="T31" fmla="*/ 127 h 288"/>
                <a:gd name="T32" fmla="*/ 117 w 288"/>
                <a:gd name="T33" fmla="*/ 146 h 288"/>
                <a:gd name="T34" fmla="*/ 146 w 288"/>
                <a:gd name="T35" fmla="*/ 115 h 288"/>
                <a:gd name="T36" fmla="*/ 146 w 288"/>
                <a:gd name="T37" fmla="*/ 115 h 288"/>
                <a:gd name="T38" fmla="*/ 147 w 288"/>
                <a:gd name="T39" fmla="*/ 115 h 288"/>
                <a:gd name="T40" fmla="*/ 191 w 288"/>
                <a:gd name="T41" fmla="*/ 93 h 288"/>
                <a:gd name="T42" fmla="*/ 237 w 288"/>
                <a:gd name="T43" fmla="*/ 53 h 288"/>
                <a:gd name="T44" fmla="*/ 261 w 288"/>
                <a:gd name="T45" fmla="*/ 32 h 288"/>
                <a:gd name="T46" fmla="*/ 163 w 288"/>
                <a:gd name="T47" fmla="*/ 155 h 288"/>
                <a:gd name="T48" fmla="*/ 239 w 288"/>
                <a:gd name="T49" fmla="*/ 176 h 288"/>
                <a:gd name="T50" fmla="*/ 253 w 288"/>
                <a:gd name="T51" fmla="*/ 89 h 288"/>
                <a:gd name="T52" fmla="*/ 265 w 288"/>
                <a:gd name="T53" fmla="*/ 138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88" h="288">
                  <a:moveTo>
                    <a:pt x="288" y="0"/>
                  </a:moveTo>
                  <a:cubicBezTo>
                    <a:pt x="288" y="0"/>
                    <a:pt x="266" y="20"/>
                    <a:pt x="225" y="46"/>
                  </a:cubicBezTo>
                  <a:cubicBezTo>
                    <a:pt x="201" y="27"/>
                    <a:pt x="170" y="15"/>
                    <a:pt x="137" y="15"/>
                  </a:cubicBezTo>
                  <a:cubicBezTo>
                    <a:pt x="61" y="15"/>
                    <a:pt x="0" y="76"/>
                    <a:pt x="0" y="152"/>
                  </a:cubicBezTo>
                  <a:cubicBezTo>
                    <a:pt x="0" y="227"/>
                    <a:pt x="61" y="288"/>
                    <a:pt x="137" y="288"/>
                  </a:cubicBezTo>
                  <a:cubicBezTo>
                    <a:pt x="213" y="288"/>
                    <a:pt x="274" y="227"/>
                    <a:pt x="274" y="152"/>
                  </a:cubicBezTo>
                  <a:cubicBezTo>
                    <a:pt x="274" y="126"/>
                    <a:pt x="267" y="103"/>
                    <a:pt x="255" y="83"/>
                  </a:cubicBezTo>
                  <a:cubicBezTo>
                    <a:pt x="262" y="57"/>
                    <a:pt x="273" y="28"/>
                    <a:pt x="288" y="0"/>
                  </a:cubicBezTo>
                  <a:moveTo>
                    <a:pt x="156" y="29"/>
                  </a:moveTo>
                  <a:cubicBezTo>
                    <a:pt x="180" y="29"/>
                    <a:pt x="202" y="36"/>
                    <a:pt x="220" y="49"/>
                  </a:cubicBezTo>
                  <a:cubicBezTo>
                    <a:pt x="179" y="74"/>
                    <a:pt x="122" y="104"/>
                    <a:pt x="48" y="127"/>
                  </a:cubicBezTo>
                  <a:cubicBezTo>
                    <a:pt x="53" y="72"/>
                    <a:pt x="100" y="29"/>
                    <a:pt x="156" y="29"/>
                  </a:cubicBezTo>
                  <a:moveTo>
                    <a:pt x="265" y="138"/>
                  </a:moveTo>
                  <a:cubicBezTo>
                    <a:pt x="265" y="198"/>
                    <a:pt x="216" y="246"/>
                    <a:pt x="156" y="246"/>
                  </a:cubicBezTo>
                  <a:cubicBezTo>
                    <a:pt x="96" y="246"/>
                    <a:pt x="48" y="198"/>
                    <a:pt x="48" y="138"/>
                  </a:cubicBezTo>
                  <a:cubicBezTo>
                    <a:pt x="48" y="134"/>
                    <a:pt x="48" y="131"/>
                    <a:pt x="48" y="127"/>
                  </a:cubicBezTo>
                  <a:cubicBezTo>
                    <a:pt x="117" y="146"/>
                    <a:pt x="117" y="146"/>
                    <a:pt x="117" y="146"/>
                  </a:cubicBezTo>
                  <a:cubicBezTo>
                    <a:pt x="146" y="115"/>
                    <a:pt x="146" y="115"/>
                    <a:pt x="146" y="115"/>
                  </a:cubicBezTo>
                  <a:cubicBezTo>
                    <a:pt x="146" y="115"/>
                    <a:pt x="146" y="115"/>
                    <a:pt x="146" y="115"/>
                  </a:cubicBezTo>
                  <a:cubicBezTo>
                    <a:pt x="147" y="115"/>
                    <a:pt x="147" y="115"/>
                    <a:pt x="147" y="115"/>
                  </a:cubicBezTo>
                  <a:cubicBezTo>
                    <a:pt x="191" y="93"/>
                    <a:pt x="191" y="93"/>
                    <a:pt x="191" y="93"/>
                  </a:cubicBezTo>
                  <a:cubicBezTo>
                    <a:pt x="237" y="53"/>
                    <a:pt x="237" y="53"/>
                    <a:pt x="237" y="53"/>
                  </a:cubicBezTo>
                  <a:cubicBezTo>
                    <a:pt x="261" y="32"/>
                    <a:pt x="261" y="32"/>
                    <a:pt x="261" y="32"/>
                  </a:cubicBezTo>
                  <a:cubicBezTo>
                    <a:pt x="163" y="155"/>
                    <a:pt x="163" y="155"/>
                    <a:pt x="163" y="155"/>
                  </a:cubicBezTo>
                  <a:cubicBezTo>
                    <a:pt x="239" y="176"/>
                    <a:pt x="239" y="176"/>
                    <a:pt x="239" y="176"/>
                  </a:cubicBezTo>
                  <a:cubicBezTo>
                    <a:pt x="240" y="164"/>
                    <a:pt x="242" y="131"/>
                    <a:pt x="253" y="89"/>
                  </a:cubicBezTo>
                  <a:cubicBezTo>
                    <a:pt x="261" y="103"/>
                    <a:pt x="265" y="120"/>
                    <a:pt x="265" y="1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lt"/>
                <a:ea typeface="+mn-ea"/>
                <a:cs typeface="+mn-ea"/>
                <a:sym typeface="+mn-lt"/>
              </a:endParaRPr>
            </a:p>
          </p:txBody>
        </p:sp>
        <p:sp>
          <p:nvSpPr>
            <p:cNvPr id="13" name="Freeform 7"/>
            <p:cNvSpPr>
              <a:spLocks noEditPoints="1"/>
            </p:cNvSpPr>
            <p:nvPr userDrawn="1"/>
          </p:nvSpPr>
          <p:spPr bwMode="auto">
            <a:xfrm>
              <a:off x="3675063" y="2125663"/>
              <a:ext cx="428625" cy="428625"/>
            </a:xfrm>
            <a:custGeom>
              <a:avLst/>
              <a:gdLst>
                <a:gd name="T0" fmla="*/ 270 w 270"/>
                <a:gd name="T1" fmla="*/ 270 h 270"/>
                <a:gd name="T2" fmla="*/ 212 w 270"/>
                <a:gd name="T3" fmla="*/ 270 h 270"/>
                <a:gd name="T4" fmla="*/ 193 w 270"/>
                <a:gd name="T5" fmla="*/ 212 h 270"/>
                <a:gd name="T6" fmla="*/ 77 w 270"/>
                <a:gd name="T7" fmla="*/ 212 h 270"/>
                <a:gd name="T8" fmla="*/ 58 w 270"/>
                <a:gd name="T9" fmla="*/ 270 h 270"/>
                <a:gd name="T10" fmla="*/ 0 w 270"/>
                <a:gd name="T11" fmla="*/ 270 h 270"/>
                <a:gd name="T12" fmla="*/ 106 w 270"/>
                <a:gd name="T13" fmla="*/ 0 h 270"/>
                <a:gd name="T14" fmla="*/ 164 w 270"/>
                <a:gd name="T15" fmla="*/ 0 h 270"/>
                <a:gd name="T16" fmla="*/ 270 w 270"/>
                <a:gd name="T17" fmla="*/ 270 h 270"/>
                <a:gd name="T18" fmla="*/ 174 w 270"/>
                <a:gd name="T19" fmla="*/ 164 h 270"/>
                <a:gd name="T20" fmla="*/ 135 w 270"/>
                <a:gd name="T21" fmla="*/ 68 h 270"/>
                <a:gd name="T22" fmla="*/ 97 w 270"/>
                <a:gd name="T23" fmla="*/ 164 h 270"/>
                <a:gd name="T24" fmla="*/ 174 w 270"/>
                <a:gd name="T25" fmla="*/ 164 h 2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0" h="270">
                  <a:moveTo>
                    <a:pt x="270" y="270"/>
                  </a:moveTo>
                  <a:lnTo>
                    <a:pt x="212" y="270"/>
                  </a:lnTo>
                  <a:lnTo>
                    <a:pt x="193" y="212"/>
                  </a:lnTo>
                  <a:lnTo>
                    <a:pt x="77" y="212"/>
                  </a:lnTo>
                  <a:lnTo>
                    <a:pt x="58" y="270"/>
                  </a:lnTo>
                  <a:lnTo>
                    <a:pt x="0" y="270"/>
                  </a:lnTo>
                  <a:lnTo>
                    <a:pt x="106" y="0"/>
                  </a:lnTo>
                  <a:lnTo>
                    <a:pt x="164" y="0"/>
                  </a:lnTo>
                  <a:lnTo>
                    <a:pt x="270" y="270"/>
                  </a:lnTo>
                  <a:close/>
                  <a:moveTo>
                    <a:pt x="174" y="164"/>
                  </a:moveTo>
                  <a:lnTo>
                    <a:pt x="135" y="68"/>
                  </a:lnTo>
                  <a:lnTo>
                    <a:pt x="97" y="164"/>
                  </a:lnTo>
                  <a:lnTo>
                    <a:pt x="174" y="16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lt"/>
                <a:ea typeface="+mn-ea"/>
                <a:cs typeface="+mn-ea"/>
                <a:sym typeface="+mn-lt"/>
              </a:endParaRPr>
            </a:p>
          </p:txBody>
        </p:sp>
        <p:sp>
          <p:nvSpPr>
            <p:cNvPr id="14" name="Freeform 8"/>
            <p:cNvSpPr/>
            <p:nvPr userDrawn="1"/>
          </p:nvSpPr>
          <p:spPr bwMode="auto">
            <a:xfrm>
              <a:off x="4119563" y="2125663"/>
              <a:ext cx="414337" cy="428625"/>
            </a:xfrm>
            <a:custGeom>
              <a:avLst/>
              <a:gdLst>
                <a:gd name="T0" fmla="*/ 96 w 261"/>
                <a:gd name="T1" fmla="*/ 270 h 270"/>
                <a:gd name="T2" fmla="*/ 0 w 261"/>
                <a:gd name="T3" fmla="*/ 0 h 270"/>
                <a:gd name="T4" fmla="*/ 58 w 261"/>
                <a:gd name="T5" fmla="*/ 0 h 270"/>
                <a:gd name="T6" fmla="*/ 135 w 261"/>
                <a:gd name="T7" fmla="*/ 203 h 270"/>
                <a:gd name="T8" fmla="*/ 203 w 261"/>
                <a:gd name="T9" fmla="*/ 0 h 270"/>
                <a:gd name="T10" fmla="*/ 261 w 261"/>
                <a:gd name="T11" fmla="*/ 0 h 270"/>
                <a:gd name="T12" fmla="*/ 164 w 261"/>
                <a:gd name="T13" fmla="*/ 270 h 270"/>
                <a:gd name="T14" fmla="*/ 96 w 261"/>
                <a:gd name="T15" fmla="*/ 270 h 2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1" h="270">
                  <a:moveTo>
                    <a:pt x="96" y="270"/>
                  </a:moveTo>
                  <a:lnTo>
                    <a:pt x="0" y="0"/>
                  </a:lnTo>
                  <a:lnTo>
                    <a:pt x="58" y="0"/>
                  </a:lnTo>
                  <a:lnTo>
                    <a:pt x="135" y="203"/>
                  </a:lnTo>
                  <a:lnTo>
                    <a:pt x="203" y="0"/>
                  </a:lnTo>
                  <a:lnTo>
                    <a:pt x="261" y="0"/>
                  </a:lnTo>
                  <a:lnTo>
                    <a:pt x="164" y="270"/>
                  </a:lnTo>
                  <a:lnTo>
                    <a:pt x="96" y="2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lt"/>
                <a:ea typeface="+mn-ea"/>
                <a:cs typeface="+mn-ea"/>
                <a:sym typeface="+mn-lt"/>
              </a:endParaRPr>
            </a:p>
          </p:txBody>
        </p:sp>
        <p:sp>
          <p:nvSpPr>
            <p:cNvPr id="15" name="Rectangle 9"/>
            <p:cNvSpPr>
              <a:spLocks noChangeArrowheads="1"/>
            </p:cNvSpPr>
            <p:nvPr userDrawn="1"/>
          </p:nvSpPr>
          <p:spPr bwMode="auto">
            <a:xfrm>
              <a:off x="4624388" y="2125663"/>
              <a:ext cx="92075" cy="4286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latin typeface="+mn-lt"/>
                <a:ea typeface="+mn-ea"/>
                <a:cs typeface="+mn-ea"/>
                <a:sym typeface="+mn-lt"/>
              </a:endParaRPr>
            </a:p>
          </p:txBody>
        </p:sp>
        <p:sp>
          <p:nvSpPr>
            <p:cNvPr id="16" name="Freeform 10"/>
            <p:cNvSpPr/>
            <p:nvPr userDrawn="1"/>
          </p:nvSpPr>
          <p:spPr bwMode="auto">
            <a:xfrm>
              <a:off x="4840288" y="2111375"/>
              <a:ext cx="382587" cy="458788"/>
            </a:xfrm>
            <a:custGeom>
              <a:avLst/>
              <a:gdLst>
                <a:gd name="T0" fmla="*/ 19 w 25"/>
                <a:gd name="T1" fmla="*/ 19 h 30"/>
                <a:gd name="T2" fmla="*/ 25 w 25"/>
                <a:gd name="T3" fmla="*/ 21 h 30"/>
                <a:gd name="T4" fmla="*/ 20 w 25"/>
                <a:gd name="T5" fmla="*/ 28 h 30"/>
                <a:gd name="T6" fmla="*/ 13 w 25"/>
                <a:gd name="T7" fmla="*/ 30 h 30"/>
                <a:gd name="T8" fmla="*/ 4 w 25"/>
                <a:gd name="T9" fmla="*/ 26 h 30"/>
                <a:gd name="T10" fmla="*/ 0 w 25"/>
                <a:gd name="T11" fmla="*/ 15 h 30"/>
                <a:gd name="T12" fmla="*/ 4 w 25"/>
                <a:gd name="T13" fmla="*/ 4 h 30"/>
                <a:gd name="T14" fmla="*/ 13 w 25"/>
                <a:gd name="T15" fmla="*/ 0 h 30"/>
                <a:gd name="T16" fmla="*/ 22 w 25"/>
                <a:gd name="T17" fmla="*/ 4 h 30"/>
                <a:gd name="T18" fmla="*/ 25 w 25"/>
                <a:gd name="T19" fmla="*/ 9 h 30"/>
                <a:gd name="T20" fmla="*/ 19 w 25"/>
                <a:gd name="T21" fmla="*/ 10 h 30"/>
                <a:gd name="T22" fmla="*/ 17 w 25"/>
                <a:gd name="T23" fmla="*/ 7 h 30"/>
                <a:gd name="T24" fmla="*/ 13 w 25"/>
                <a:gd name="T25" fmla="*/ 5 h 30"/>
                <a:gd name="T26" fmla="*/ 8 w 25"/>
                <a:gd name="T27" fmla="*/ 8 h 30"/>
                <a:gd name="T28" fmla="*/ 6 w 25"/>
                <a:gd name="T29" fmla="*/ 15 h 30"/>
                <a:gd name="T30" fmla="*/ 8 w 25"/>
                <a:gd name="T31" fmla="*/ 23 h 30"/>
                <a:gd name="T32" fmla="*/ 13 w 25"/>
                <a:gd name="T33" fmla="*/ 25 h 30"/>
                <a:gd name="T34" fmla="*/ 17 w 25"/>
                <a:gd name="T35" fmla="*/ 24 h 30"/>
                <a:gd name="T36" fmla="*/ 19 w 25"/>
                <a:gd name="T37" fmla="*/ 19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30">
                  <a:moveTo>
                    <a:pt x="19" y="19"/>
                  </a:moveTo>
                  <a:cubicBezTo>
                    <a:pt x="25" y="21"/>
                    <a:pt x="25" y="21"/>
                    <a:pt x="25" y="21"/>
                  </a:cubicBezTo>
                  <a:cubicBezTo>
                    <a:pt x="24" y="24"/>
                    <a:pt x="22" y="26"/>
                    <a:pt x="20" y="28"/>
                  </a:cubicBezTo>
                  <a:cubicBezTo>
                    <a:pt x="18" y="29"/>
                    <a:pt x="16" y="30"/>
                    <a:pt x="13" y="30"/>
                  </a:cubicBezTo>
                  <a:cubicBezTo>
                    <a:pt x="9" y="30"/>
                    <a:pt x="6" y="29"/>
                    <a:pt x="4" y="26"/>
                  </a:cubicBezTo>
                  <a:cubicBezTo>
                    <a:pt x="1" y="23"/>
                    <a:pt x="0" y="20"/>
                    <a:pt x="0" y="15"/>
                  </a:cubicBezTo>
                  <a:cubicBezTo>
                    <a:pt x="0" y="11"/>
                    <a:pt x="1" y="7"/>
                    <a:pt x="4" y="4"/>
                  </a:cubicBezTo>
                  <a:cubicBezTo>
                    <a:pt x="6" y="2"/>
                    <a:pt x="9" y="0"/>
                    <a:pt x="13" y="0"/>
                  </a:cubicBezTo>
                  <a:cubicBezTo>
                    <a:pt x="17" y="0"/>
                    <a:pt x="20" y="2"/>
                    <a:pt x="22" y="4"/>
                  </a:cubicBezTo>
                  <a:cubicBezTo>
                    <a:pt x="23" y="5"/>
                    <a:pt x="24" y="7"/>
                    <a:pt x="25" y="9"/>
                  </a:cubicBezTo>
                  <a:cubicBezTo>
                    <a:pt x="19" y="10"/>
                    <a:pt x="19" y="10"/>
                    <a:pt x="19" y="10"/>
                  </a:cubicBezTo>
                  <a:cubicBezTo>
                    <a:pt x="19" y="9"/>
                    <a:pt x="18" y="8"/>
                    <a:pt x="17" y="7"/>
                  </a:cubicBezTo>
                  <a:cubicBezTo>
                    <a:pt x="16" y="6"/>
                    <a:pt x="14" y="5"/>
                    <a:pt x="13" y="5"/>
                  </a:cubicBezTo>
                  <a:cubicBezTo>
                    <a:pt x="11" y="5"/>
                    <a:pt x="9" y="6"/>
                    <a:pt x="8" y="8"/>
                  </a:cubicBezTo>
                  <a:cubicBezTo>
                    <a:pt x="7" y="9"/>
                    <a:pt x="6" y="12"/>
                    <a:pt x="6" y="15"/>
                  </a:cubicBezTo>
                  <a:cubicBezTo>
                    <a:pt x="6" y="19"/>
                    <a:pt x="7" y="21"/>
                    <a:pt x="8" y="23"/>
                  </a:cubicBezTo>
                  <a:cubicBezTo>
                    <a:pt x="9" y="24"/>
                    <a:pt x="11" y="25"/>
                    <a:pt x="13" y="25"/>
                  </a:cubicBezTo>
                  <a:cubicBezTo>
                    <a:pt x="14" y="25"/>
                    <a:pt x="16" y="24"/>
                    <a:pt x="17" y="24"/>
                  </a:cubicBezTo>
                  <a:cubicBezTo>
                    <a:pt x="18" y="23"/>
                    <a:pt x="19" y="21"/>
                    <a:pt x="19" y="19"/>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latin typeface="+mn-lt"/>
                <a:ea typeface="+mn-ea"/>
                <a:cs typeface="+mn-ea"/>
                <a:sym typeface="+mn-lt"/>
              </a:endParaRPr>
            </a:p>
          </p:txBody>
        </p:sp>
      </p:grpSp>
      <p:grpSp>
        <p:nvGrpSpPr>
          <p:cNvPr id="17" name="组合 16"/>
          <p:cNvGrpSpPr/>
          <p:nvPr/>
        </p:nvGrpSpPr>
        <p:grpSpPr>
          <a:xfrm>
            <a:off x="-1044624" y="620688"/>
            <a:ext cx="576064" cy="2448272"/>
            <a:chOff x="-1044624" y="620688"/>
            <a:chExt cx="576064" cy="2448272"/>
          </a:xfrm>
        </p:grpSpPr>
        <p:sp>
          <p:nvSpPr>
            <p:cNvPr id="18" name="矩形 17"/>
            <p:cNvSpPr/>
            <p:nvPr/>
          </p:nvSpPr>
          <p:spPr>
            <a:xfrm>
              <a:off x="-1044624" y="620688"/>
              <a:ext cx="576064" cy="504056"/>
            </a:xfrm>
            <a:prstGeom prst="rect">
              <a:avLst/>
            </a:prstGeom>
            <a:solidFill>
              <a:srgbClr val="D7443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9" name="矩形 18"/>
            <p:cNvSpPr/>
            <p:nvPr/>
          </p:nvSpPr>
          <p:spPr>
            <a:xfrm>
              <a:off x="-1044624" y="1268760"/>
              <a:ext cx="576064" cy="504056"/>
            </a:xfrm>
            <a:prstGeom prst="rect">
              <a:avLst/>
            </a:prstGeom>
            <a:solidFill>
              <a:srgbClr val="890E0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矩形 19"/>
            <p:cNvSpPr/>
            <p:nvPr/>
          </p:nvSpPr>
          <p:spPr>
            <a:xfrm>
              <a:off x="-1044624" y="1916832"/>
              <a:ext cx="576064" cy="504056"/>
            </a:xfrm>
            <a:prstGeom prst="rect">
              <a:avLst/>
            </a:prstGeom>
            <a:solidFill>
              <a:srgbClr val="AFAB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1" name="矩形 20"/>
            <p:cNvSpPr/>
            <p:nvPr/>
          </p:nvSpPr>
          <p:spPr>
            <a:xfrm>
              <a:off x="-1044624" y="2564904"/>
              <a:ext cx="576064" cy="504056"/>
            </a:xfrm>
            <a:prstGeom prst="rect">
              <a:avLst/>
            </a:prstGeom>
            <a:solidFill>
              <a:srgbClr val="3A060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spTree>
    <p:custDataLst>
      <p:tags r:id="rId2"/>
    </p:custData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p159:morph option="byObject"/>
      </p:transition>
    </mc:Choice>
    <mc:Fallback>
      <p:transition>
        <p:fade/>
      </p:transition>
    </mc:Fallback>
  </mc:AlternateContent>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ISLIDE.PICTURE" val="#557514;"/>
</p:tagLst>
</file>

<file path=ppt/tags/tag19.xml><?xml version="1.0" encoding="utf-8"?>
<p:tagLst xmlns:p="http://schemas.openxmlformats.org/presentationml/2006/main">
  <p:tag name="KSO_WPP_MARK_KEY" val="95d19bee-35c9-4dbe-ab02-04ec3b399d43"/>
  <p:tag name="COMMONDATA" val="eyJoZGlkIjoiMWE3MTJjNGVjMGYyZDAwY2I5ZmI3Mjg3ZGY5MDI4YTIifQ=="/>
</p:tagLst>
</file>

<file path=ppt/theme/theme1.xml><?xml version="1.0" encoding="utf-8"?>
<a:theme xmlns:a="http://schemas.openxmlformats.org/drawingml/2006/main" name="航空工业ppt模板1​​">
  <a:themeElements>
    <a:clrScheme name="Office 主题​​">
      <a:dk1>
        <a:srgbClr val="000000"/>
      </a:dk1>
      <a:lt1>
        <a:srgbClr val="FFFFFF"/>
      </a:lt1>
      <a:dk2>
        <a:srgbClr val="778495"/>
      </a:dk2>
      <a:lt2>
        <a:srgbClr val="F0F0F0"/>
      </a:lt2>
      <a:accent1>
        <a:srgbClr val="6E1B09"/>
      </a:accent1>
      <a:accent2>
        <a:srgbClr val="D22C2C"/>
      </a:accent2>
      <a:accent3>
        <a:srgbClr val="F07249"/>
      </a:accent3>
      <a:accent4>
        <a:srgbClr val="5D5F5C"/>
      </a:accent4>
      <a:accent5>
        <a:srgbClr val="393A3C"/>
      </a:accent5>
      <a:accent6>
        <a:srgbClr val="A7A7A7"/>
      </a:accent6>
      <a:hlink>
        <a:srgbClr val="FBE0BD"/>
      </a:hlink>
      <a:folHlink>
        <a:srgbClr val="BFBFBF"/>
      </a:folHlink>
    </a:clrScheme>
    <a:fontScheme name="sycpayqj">
      <a:majorFont>
        <a:latin typeface=""/>
        <a:ea typeface="微软雅黑"/>
        <a:cs typeface=""/>
      </a:majorFont>
      <a:minorFont>
        <a:latin typeface=""/>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主题​​">
    <a:dk1>
      <a:srgbClr val="000000"/>
    </a:dk1>
    <a:lt1>
      <a:srgbClr val="FFFFFF"/>
    </a:lt1>
    <a:dk2>
      <a:srgbClr val="778495"/>
    </a:dk2>
    <a:lt2>
      <a:srgbClr val="F0F0F0"/>
    </a:lt2>
    <a:accent1>
      <a:srgbClr val="6E1B09"/>
    </a:accent1>
    <a:accent2>
      <a:srgbClr val="D22C2C"/>
    </a:accent2>
    <a:accent3>
      <a:srgbClr val="F07249"/>
    </a:accent3>
    <a:accent4>
      <a:srgbClr val="5D5F5C"/>
    </a:accent4>
    <a:accent5>
      <a:srgbClr val="393A3C"/>
    </a:accent5>
    <a:accent6>
      <a:srgbClr val="A7A7A7"/>
    </a:accent6>
    <a:hlink>
      <a:srgbClr val="FBE0BD"/>
    </a:hlink>
    <a:folHlink>
      <a:srgbClr val="BFBFBF"/>
    </a:folHlink>
  </a:clrScheme>
</a:themeOverride>
</file>

<file path=ppt/theme/themeOverride2.xml><?xml version="1.0" encoding="utf-8"?>
<a:themeOverride xmlns:a="http://schemas.openxmlformats.org/drawingml/2006/main">
  <a:clrScheme name="Office 主题​​">
    <a:dk1>
      <a:srgbClr val="000000"/>
    </a:dk1>
    <a:lt1>
      <a:srgbClr val="FFFFFF"/>
    </a:lt1>
    <a:dk2>
      <a:srgbClr val="778495"/>
    </a:dk2>
    <a:lt2>
      <a:srgbClr val="F0F0F0"/>
    </a:lt2>
    <a:accent1>
      <a:srgbClr val="6E1B09"/>
    </a:accent1>
    <a:accent2>
      <a:srgbClr val="D22C2C"/>
    </a:accent2>
    <a:accent3>
      <a:srgbClr val="F07249"/>
    </a:accent3>
    <a:accent4>
      <a:srgbClr val="5D5F5C"/>
    </a:accent4>
    <a:accent5>
      <a:srgbClr val="393A3C"/>
    </a:accent5>
    <a:accent6>
      <a:srgbClr val="A7A7A7"/>
    </a:accent6>
    <a:hlink>
      <a:srgbClr val="FBE0BD"/>
    </a:hlink>
    <a:folHlink>
      <a:srgbClr val="BFBFBF"/>
    </a:folHlink>
  </a:clrScheme>
</a:themeOverride>
</file>

<file path=ppt/theme/themeOverride3.xml><?xml version="1.0" encoding="utf-8"?>
<a:themeOverride xmlns:a="http://schemas.openxmlformats.org/drawingml/2006/main">
  <a:clrScheme name="Office 主题​​">
    <a:dk1>
      <a:srgbClr val="000000"/>
    </a:dk1>
    <a:lt1>
      <a:srgbClr val="FFFFFF"/>
    </a:lt1>
    <a:dk2>
      <a:srgbClr val="778495"/>
    </a:dk2>
    <a:lt2>
      <a:srgbClr val="F0F0F0"/>
    </a:lt2>
    <a:accent1>
      <a:srgbClr val="6E1B09"/>
    </a:accent1>
    <a:accent2>
      <a:srgbClr val="D22C2C"/>
    </a:accent2>
    <a:accent3>
      <a:srgbClr val="F07249"/>
    </a:accent3>
    <a:accent4>
      <a:srgbClr val="5D5F5C"/>
    </a:accent4>
    <a:accent5>
      <a:srgbClr val="393A3C"/>
    </a:accent5>
    <a:accent6>
      <a:srgbClr val="A7A7A7"/>
    </a:accent6>
    <a:hlink>
      <a:srgbClr val="FBE0BD"/>
    </a:hlink>
    <a:folHlink>
      <a:srgbClr val="BFBFBF"/>
    </a:folHlink>
  </a:clrScheme>
</a:themeOverride>
</file>

<file path=ppt/theme/themeOverride4.xml><?xml version="1.0" encoding="utf-8"?>
<a:themeOverride xmlns:a="http://schemas.openxmlformats.org/drawingml/2006/main">
  <a:clrScheme name="Office 主题​​">
    <a:dk1>
      <a:srgbClr val="000000"/>
    </a:dk1>
    <a:lt1>
      <a:srgbClr val="FFFFFF"/>
    </a:lt1>
    <a:dk2>
      <a:srgbClr val="778495"/>
    </a:dk2>
    <a:lt2>
      <a:srgbClr val="F0F0F0"/>
    </a:lt2>
    <a:accent1>
      <a:srgbClr val="6E1B09"/>
    </a:accent1>
    <a:accent2>
      <a:srgbClr val="D22C2C"/>
    </a:accent2>
    <a:accent3>
      <a:srgbClr val="F07249"/>
    </a:accent3>
    <a:accent4>
      <a:srgbClr val="5D5F5C"/>
    </a:accent4>
    <a:accent5>
      <a:srgbClr val="393A3C"/>
    </a:accent5>
    <a:accent6>
      <a:srgbClr val="A7A7A7"/>
    </a:accent6>
    <a:hlink>
      <a:srgbClr val="FBE0BD"/>
    </a:hlink>
    <a:folHlink>
      <a:srgbClr val="BFBFBF"/>
    </a:folHlink>
  </a:clrScheme>
</a:themeOverride>
</file>

<file path=ppt/theme/themeOverride5.xml><?xml version="1.0" encoding="utf-8"?>
<a:themeOverride xmlns:a="http://schemas.openxmlformats.org/drawingml/2006/main">
  <a:clrScheme name="Office 主题​​">
    <a:dk1>
      <a:srgbClr val="000000"/>
    </a:dk1>
    <a:lt1>
      <a:srgbClr val="FFFFFF"/>
    </a:lt1>
    <a:dk2>
      <a:srgbClr val="778495"/>
    </a:dk2>
    <a:lt2>
      <a:srgbClr val="F0F0F0"/>
    </a:lt2>
    <a:accent1>
      <a:srgbClr val="6E1B09"/>
    </a:accent1>
    <a:accent2>
      <a:srgbClr val="D22C2C"/>
    </a:accent2>
    <a:accent3>
      <a:srgbClr val="F07249"/>
    </a:accent3>
    <a:accent4>
      <a:srgbClr val="5D5F5C"/>
    </a:accent4>
    <a:accent5>
      <a:srgbClr val="393A3C"/>
    </a:accent5>
    <a:accent6>
      <a:srgbClr val="A7A7A7"/>
    </a:accent6>
    <a:hlink>
      <a:srgbClr val="FBE0BD"/>
    </a:hlink>
    <a:folHlink>
      <a:srgbClr val="BFBFBF"/>
    </a:folHlink>
  </a:clrScheme>
</a:themeOverride>
</file>

<file path=docProps/app.xml><?xml version="1.0" encoding="utf-8"?>
<Properties xmlns="http://schemas.openxmlformats.org/officeDocument/2006/extended-properties" xmlns:vt="http://schemas.openxmlformats.org/officeDocument/2006/docPropsVTypes">
  <TotalTime>0</TotalTime>
  <Words>2155</Words>
  <Application>WPS 演示</Application>
  <PresentationFormat>宽屏</PresentationFormat>
  <Paragraphs>227</Paragraphs>
  <Slides>21</Slides>
  <Notes>22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21</vt:i4>
      </vt:variant>
    </vt:vector>
  </HeadingPairs>
  <TitlesOfParts>
    <vt:vector size="29" baseType="lpstr">
      <vt:lpstr>Arial</vt:lpstr>
      <vt:lpstr>宋体</vt:lpstr>
      <vt:lpstr>Wingdings</vt:lpstr>
      <vt:lpstr>微软雅黑</vt:lpstr>
      <vt:lpstr>Wingdings</vt:lpstr>
      <vt:lpstr>Arial Unicode MS</vt:lpstr>
      <vt:lpstr>Calibri</vt:lpstr>
      <vt:lpstr>航空工业ppt模板1​​</vt:lpstr>
      <vt:lpstr>资金收支预算管理系统 系统管理操作培训</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JS 小程</dc:creator>
  <cp:lastModifiedBy>l'x'j</cp:lastModifiedBy>
  <cp:revision>1797</cp:revision>
  <cp:lastPrinted>2019-10-17T02:29:00Z</cp:lastPrinted>
  <dcterms:created xsi:type="dcterms:W3CDTF">2013-01-03T05:04:00Z</dcterms:created>
  <dcterms:modified xsi:type="dcterms:W3CDTF">2023-05-25T03:52:43Z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790D8703F8AC46AF942B84D1611569FD</vt:lpwstr>
  </property>
  <property fmtid="{D5CDD505-2E9C-101B-9397-08002B2CF9AE}" pid="3" name="KSOProductBuildVer">
    <vt:lpwstr>2052-11.8.2.10321</vt:lpwstr>
  </property>
</Properties>
</file>